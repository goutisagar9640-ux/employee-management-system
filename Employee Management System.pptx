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8" r:id="rId3"/>
    <p:sldId id="260" r:id="rId4"/>
    <p:sldId id="261" r:id="rId5"/>
    <p:sldId id="262" r:id="rId6"/>
    <p:sldId id="270" r:id="rId7"/>
    <p:sldId id="271" r:id="rId8"/>
    <p:sldId id="263" r:id="rId9"/>
    <p:sldId id="272" r:id="rId10"/>
    <p:sldId id="273" r:id="rId11"/>
    <p:sldId id="264"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65" r:id="rId33"/>
    <p:sldId id="266" r:id="rId34"/>
    <p:sldId id="267" r:id="rId35"/>
    <p:sldId id="268" r:id="rId36"/>
    <p:sldId id="259" r:id="rId37"/>
  </p:sldIdLst>
  <p:sldSz cx="12192000" cy="6858000"/>
  <p:notesSz cx="6858000" cy="9144000"/>
  <p:embeddedFontLst>
    <p:embeddedFont>
      <p:font typeface="Libre Baskerville" panose="02000000000000000000" pitchFamily="2" charset="0"/>
      <p:regular r:id="rId39"/>
      <p:bold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9B56AC-D5BA-419D-BDDC-347E4E4564AD}" v="1" dt="2026-01-07T09:50:08.8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3.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5:03:18.474"/>
    </inkml:context>
    <inkml:brush xml:id="br0">
      <inkml:brushProperty name="width" value="0.05" units="cm"/>
      <inkml:brushProperty name="height" value="0.05" units="cm"/>
      <inkml:brushProperty name="color" value="#AE198D"/>
      <inkml:brushProperty name="inkEffects" value="galaxy"/>
      <inkml:brushProperty name="anchorX" value="-3574.38867"/>
      <inkml:brushProperty name="anchorY" value="-3243.625"/>
      <inkml:brushProperty name="scaleFactor" value="0.5"/>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5:03:19.773"/>
    </inkml:context>
    <inkml:brush xml:id="br0">
      <inkml:brushProperty name="width" value="0.05" units="cm"/>
      <inkml:brushProperty name="height" value="0.05" units="cm"/>
      <inkml:brushProperty name="color" value="#AE198D"/>
      <inkml:brushProperty name="inkEffects" value="galaxy"/>
      <inkml:brushProperty name="anchorX" value="-4590.38867"/>
      <inkml:brushProperty name="anchorY" value="-4259.625"/>
      <inkml:brushProperty name="scaleFactor" value="0.5"/>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B18C7EF-6657-9FE7-CA40-596D5B775D4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FBF3311-E2EC-1B6F-9BBE-03922ED104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CF909C2F-4B1F-4A61-EF52-890A5F66D5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797718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9CFECB0-2C29-73CB-CCCA-32BF28BFE67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44A62E2-6667-245A-33D9-88B96F56C8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2B5C207D-7903-6D38-51CB-FC24C0885D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301622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CB1B292-12F4-585B-562B-468E915A348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85B408B-4C71-0B5A-C48A-3A5F2BE5DD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219B8AB-0FB1-3493-93A8-2EEADF9B12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794887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F5F7000-7397-BBAA-E00A-6B0F40C485A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765EEA5-CA86-441A-BB1E-BFBC67682F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7966989-9872-B945-2AD6-BC1ACB78EB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393929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B595657-2FA1-36A1-CDA5-9B340E371FB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FA2C3E8-C945-2641-9122-E9B2FB5A98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9125FC57-AF4A-B371-86EF-AF14AFEB97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711880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E5DB8A3-2042-01EA-D772-D10601FAA34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4EF137C-AF3A-E114-5B09-D4F0ED075B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7E18604-EE14-6960-012C-A0875B9A1F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55498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18536AF-9EC5-FE0E-EAFA-988880A2A15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31452B6-DC56-66EE-56C6-727446847F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1A05D563-409E-BEB2-0B9E-200C4E1442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8550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8C8E64C-8E5F-13BE-8D34-87A64E371E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1C272E7-2A8C-77A5-CB1A-376D53B0C6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C5022508-245C-2E23-4C98-367B62FB1A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786709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5E887C7-6687-245C-FE69-874C0633D34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3B402A4-3695-0A2B-4031-C3D031D42F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0BE8CF82-0EC9-FCC5-AE37-93374683CC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095583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CC18213-8000-E0EE-5172-D8EE9B34F0F4}"/>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8942310-4B75-2B4B-FBEE-EA4435C628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FCE814A4-A630-2895-1E57-FC6B5B1890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382307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D4A9A1F-B907-5A3B-2314-B5B286C15EC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7923BA8-415C-2C11-C4E3-9530161307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D7500B5-10F3-5B9E-34DF-A166B3DEC3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605749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2E6EDBA-5440-761B-2851-78C55739FB7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91CF489-D9F9-D76D-66F9-AEC5317D31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4C7237D3-51CA-AA60-315A-819A21C267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971257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4F5A40A-6EFD-8BE9-B2F8-F19BBD8DF32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29B74A9-D302-CD2B-141A-CBFA8E5FB0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CAEC3605-D093-C126-0947-54CD8C141D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508310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8A0CE8A-C010-3FB2-D541-7743AA6042B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4149CD9-066F-4DAB-9FFB-B2A1E001B7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475EDEBE-0838-D552-0378-A38B44FA07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543827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BA877E0-4003-97D3-E55B-7CA6308F56C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B96F37D-C8A2-624D-4D70-A08E1A9654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E2B1F0C-6741-17E3-8AA0-D60F5CCAA9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778887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3D93B89-E80C-21D5-B014-69778AE0AC4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71711E8-86A3-F2AA-7886-CE03F7BD14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920AC5F0-0181-51D2-401A-6EFF8CB3F1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73012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EAE43E1-D006-6EF3-9777-610C11DFAA6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CEB7C87-BBDC-8E16-B13C-3D948DD35F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04C5348E-B79F-44DF-B0ED-2CBF1FFD3C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965590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47FBC0A-F273-BD43-1CE7-8E79703C972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A118F20-6688-135B-D13B-1E9C5F5DE0A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01A91ADA-BB77-67B3-D48C-6A14CFA829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832904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8D2D304-E520-992B-4436-5FB9BCA6716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3CF0402-A771-B362-D940-7345FBB720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AE63D7DE-376B-A399-12A3-24F26584F3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832160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A814198-52D7-E029-1B7B-27D820ECF6E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8BBBCD0-4D8B-C807-D271-1EB119AE23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6AFC2347-9A44-E962-0BC2-FFE1FE46E2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648728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B07CAA8-953C-6E3C-4E22-8903C4BDB00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CE50CDF-688F-AEA1-60C1-46F565D497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079B928B-4A46-5156-4461-E147DDAF65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3124689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BB12092-5334-9F24-626D-3A219E3AB11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B8CCBF5-9CAF-AEBF-923B-4EBA96EA8F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BA5EC3EF-430F-24DD-7CFF-5BF07284F9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516068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B59ECC0-5857-BE59-FFB1-E4464C78B4F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F99A35F-AC8D-421C-CF38-4A2F77653C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C81BD9C4-6320-6AF4-40A3-2D4F9C3336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173089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8B1A8BC-9F08-12FE-283C-BD20819ED2D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D604ABE-D727-DBA7-9DD3-840DBBDCFF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7AF3768A-4650-7587-3D60-C95D8749F0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882856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8CB5988-D1F1-C743-64E2-B7B006264A1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215C8BF-A012-2DBE-B17D-508892D890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2E2B44AE-862A-D7D2-8D7E-AB148A2AC4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0090620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9D9C379-FE94-79DE-5120-F25BC81B145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98D8510-60BD-11D4-37FE-6FDC201F65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34D71B5A-351A-0471-0DDC-3B8C84936B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06779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44EF214-C35E-DEFB-DC9C-02EE68F7FB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1EBAC3A-0CDF-8A3A-E1CD-9AC2818BA4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660168CB-7AAF-BE0A-A3B0-D47D53C54E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2175154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7C289B2-0FC5-A08F-4F20-079E84AE1E0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CC07C65-135A-5A11-7150-9E858ADBDF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EC1E63FF-B7EA-E332-FE86-8321153D75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2957576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504EF40-F41D-F178-EFE4-65DA660451F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E6BF32F-236E-5C66-A4B6-59B89F3C43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3BC70FED-67CD-8306-E54E-A73A4AA756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2310679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43C2EC6-F178-18D1-4769-78DD2E1AF04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94E0DB5-5929-7DB5-A216-86CF69512C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2B1DA283-26A9-F44E-F560-DDB3C7C622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099976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86DA1B8-B52F-DA3F-1443-B25275B9C2E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31D3405-F9E8-6276-2F11-DD2C7D0312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75D1CC0D-B792-2C6A-84E7-1771E2BE53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8128649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70CB6FC-147B-A275-EC3F-F122DCA20D6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773C653-1AF6-64E6-0FA7-5EBFCA0152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8583BA6-8BAB-BDEB-EF64-07272FEF1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135471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02C0EF9-82DF-652E-C2AA-D62D7FA353A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974175D-0B4B-371D-1128-061E1F63512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E706ED25-813D-2DBE-8D3F-826E1878B3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9455545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dirty="0"/>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573488" y="3845141"/>
            <a:ext cx="7246189" cy="461624"/>
          </a:xfrm>
          <a:prstGeom prst="rect">
            <a:avLst/>
          </a:prstGeom>
          <a:noFill/>
          <a:ln>
            <a:noFill/>
          </a:ln>
        </p:spPr>
        <p:txBody>
          <a:bodyPr spcFirstLastPara="1" wrap="square" lIns="91425" tIns="45700" rIns="91425" bIns="45700" anchor="t" anchorCtr="0">
            <a:spAutoFit/>
          </a:bodyPr>
          <a:lstStyle/>
          <a:p>
            <a:pPr algn="ctr"/>
            <a:r>
              <a:rPr lang="en-IN" sz="2400" b="1" dirty="0"/>
              <a:t>Employee Management System </a:t>
            </a:r>
          </a:p>
        </p:txBody>
      </p:sp>
      <p:sp>
        <p:nvSpPr>
          <p:cNvPr id="2" name="TextBox 1">
            <a:extLst>
              <a:ext uri="{FF2B5EF4-FFF2-40B4-BE49-F238E27FC236}">
                <a16:creationId xmlns:a16="http://schemas.microsoft.com/office/drawing/2014/main" id="{49978981-C802-66F4-86AE-82D5632DBD88}"/>
              </a:ext>
            </a:extLst>
          </p:cNvPr>
          <p:cNvSpPr txBox="1"/>
          <p:nvPr/>
        </p:nvSpPr>
        <p:spPr>
          <a:xfrm>
            <a:off x="8961120" y="5181391"/>
            <a:ext cx="2679192" cy="738664"/>
          </a:xfrm>
          <a:prstGeom prst="rect">
            <a:avLst/>
          </a:prstGeom>
          <a:noFill/>
        </p:spPr>
        <p:txBody>
          <a:bodyPr wrap="square" rtlCol="0">
            <a:spAutoFit/>
          </a:bodyPr>
          <a:lstStyle/>
          <a:p>
            <a:r>
              <a:rPr lang="en-IN" b="1" dirty="0"/>
              <a:t>Presented By:</a:t>
            </a:r>
          </a:p>
          <a:p>
            <a:pPr marL="285750" indent="-285750">
              <a:buFont typeface="Arial" panose="020B0604020202020204" pitchFamily="34" charset="0"/>
              <a:buChar char="•"/>
            </a:pPr>
            <a:r>
              <a:rPr lang="en-IN" dirty="0"/>
              <a:t>Gouti Sagar</a:t>
            </a:r>
          </a:p>
          <a:p>
            <a:pPr marL="285750" indent="-285750">
              <a:buFont typeface="Arial" panose="020B0604020202020204" pitchFamily="34" charset="0"/>
              <a:buChar char="•"/>
            </a:pPr>
            <a:r>
              <a:rPr lang="en-IN" dirty="0"/>
              <a:t>Vamshi Krishna Mummadi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Agenda</a:t>
            </a: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GB" sz="2400" b="1" noProof="0" dirty="0"/>
              <a:t>Objective of the Project</a:t>
            </a:r>
            <a:endParaRPr lang="en-GB" sz="2400" noProof="0" dirty="0"/>
          </a:p>
          <a:p>
            <a:pPr marL="457200" lvl="0" indent="-431800" algn="l" rtl="0">
              <a:lnSpc>
                <a:spcPct val="90000"/>
              </a:lnSpc>
              <a:spcBef>
                <a:spcPts val="1000"/>
              </a:spcBef>
              <a:spcAft>
                <a:spcPts val="0"/>
              </a:spcAft>
              <a:buSzPts val="2400"/>
              <a:buChar char="•"/>
            </a:pPr>
            <a:r>
              <a:rPr lang="en-GB" sz="2400" b="1" noProof="0" dirty="0"/>
              <a:t>ER Diagram and schema explanation</a:t>
            </a:r>
            <a:endParaRPr lang="en-GB" sz="2400" noProof="0" dirty="0"/>
          </a:p>
          <a:p>
            <a:pPr marL="457200" lvl="0" indent="-431800" algn="l" rtl="0">
              <a:lnSpc>
                <a:spcPct val="90000"/>
              </a:lnSpc>
              <a:spcBef>
                <a:spcPts val="1000"/>
              </a:spcBef>
              <a:spcAft>
                <a:spcPts val="0"/>
              </a:spcAft>
              <a:buSzPts val="2400"/>
              <a:buChar char="•"/>
            </a:pPr>
            <a:r>
              <a:rPr lang="en-GB" sz="2400" b="1" noProof="0" dirty="0"/>
              <a:t>Key analysis questions </a:t>
            </a:r>
          </a:p>
          <a:p>
            <a:pPr marL="457200" lvl="0" indent="-431800" algn="l" rtl="0">
              <a:lnSpc>
                <a:spcPct val="90000"/>
              </a:lnSpc>
              <a:spcBef>
                <a:spcPts val="1000"/>
              </a:spcBef>
              <a:spcAft>
                <a:spcPts val="0"/>
              </a:spcAft>
              <a:buSzPts val="2400"/>
              <a:buChar char="•"/>
            </a:pPr>
            <a:r>
              <a:rPr lang="en-GB" sz="2400" b="1" noProof="0" dirty="0"/>
              <a:t>SQL query results with screenshots or summaries</a:t>
            </a:r>
            <a:endParaRPr lang="en-GB" sz="2400" noProof="0" dirty="0"/>
          </a:p>
          <a:p>
            <a:pPr marL="457200" lvl="0" indent="-431800" algn="l" rtl="0">
              <a:lnSpc>
                <a:spcPct val="90000"/>
              </a:lnSpc>
              <a:spcBef>
                <a:spcPts val="1000"/>
              </a:spcBef>
              <a:spcAft>
                <a:spcPts val="0"/>
              </a:spcAft>
              <a:buSzPts val="2400"/>
              <a:buChar char="•"/>
            </a:pPr>
            <a:r>
              <a:rPr lang="en-GB" sz="2400" b="1" noProof="0" dirty="0"/>
              <a:t>Final business insights and recommendations</a:t>
            </a:r>
            <a:endParaRPr lang="en-GB" sz="2400" noProof="0" dirty="0"/>
          </a:p>
          <a:p>
            <a:pPr indent="-431800">
              <a:buSzPts val="2400"/>
            </a:pPr>
            <a:r>
              <a:rPr lang="en-GB" sz="2400" b="1" dirty="0"/>
              <a:t>Challenges working on SQL</a:t>
            </a:r>
            <a:endParaRPr lang="en-GB" sz="2400" dirty="0"/>
          </a:p>
          <a:p>
            <a:pPr indent="-431800">
              <a:buSzPts val="2400"/>
            </a:pPr>
            <a:r>
              <a:rPr lang="en-GB" sz="2400" b="1" dirty="0"/>
              <a:t>Q&amp;A Slide </a:t>
            </a:r>
            <a:endParaRPr lang="en-GB" sz="2400" dirty="0"/>
          </a:p>
          <a:p>
            <a:pPr marL="457200" lvl="0" indent="-431800" algn="l" rtl="0">
              <a:lnSpc>
                <a:spcPct val="90000"/>
              </a:lnSpc>
              <a:spcBef>
                <a:spcPts val="1000"/>
              </a:spcBef>
              <a:spcAft>
                <a:spcPts val="0"/>
              </a:spcAft>
              <a:buSzPts val="2400"/>
              <a:buChar char="•"/>
            </a:pPr>
            <a:r>
              <a:rPr lang="en-GB" sz="2400" b="1" noProof="0" dirty="0"/>
              <a:t>Conclusion</a:t>
            </a:r>
            <a:endParaRPr lang="en-GB"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E459FF1-BCC8-30C4-44A1-564EBBE598F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902D155-2686-F1DC-26C4-E710F597EB15}"/>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Objective</a:t>
            </a:r>
          </a:p>
        </p:txBody>
      </p:sp>
      <p:sp>
        <p:nvSpPr>
          <p:cNvPr id="111" name="Google Shape;111;p4">
            <a:extLst>
              <a:ext uri="{FF2B5EF4-FFF2-40B4-BE49-F238E27FC236}">
                <a16:creationId xmlns:a16="http://schemas.microsoft.com/office/drawing/2014/main" id="{DDC25064-7C99-E573-05E2-D4997C0C45FD}"/>
              </a:ext>
            </a:extLst>
          </p:cNvPr>
          <p:cNvSpPr txBox="1">
            <a:spLocks noGrp="1"/>
          </p:cNvSpPr>
          <p:nvPr>
            <p:ph type="body" idx="1"/>
          </p:nvPr>
        </p:nvSpPr>
        <p:spPr>
          <a:xfrm>
            <a:off x="684880" y="1243584"/>
            <a:ext cx="10515600" cy="5026784"/>
          </a:xfrm>
          <a:prstGeom prst="rect">
            <a:avLst/>
          </a:prstGeom>
          <a:noFill/>
          <a:ln>
            <a:noFill/>
          </a:ln>
        </p:spPr>
        <p:txBody>
          <a:bodyPr spcFirstLastPara="1" wrap="square" lIns="91425" tIns="45700" rIns="91425" bIns="45700" anchor="t" anchorCtr="0">
            <a:normAutofit/>
          </a:bodyPr>
          <a:lstStyle/>
          <a:p>
            <a:pPr indent="-457200">
              <a:buSzPts val="2800"/>
            </a:pPr>
            <a:r>
              <a:rPr lang="en-GB" sz="2400" noProof="0" dirty="0"/>
              <a:t>To design and implement a centralized Employee Management System that organizes employee related data in a structured relational database. The system supports efficient storage, retrieval, and maintenance of records across the organization.</a:t>
            </a:r>
          </a:p>
          <a:p>
            <a:pPr indent="-457200">
              <a:buSzPts val="2800"/>
            </a:pPr>
            <a:r>
              <a:rPr lang="en-GB" sz="2400" noProof="0" dirty="0"/>
              <a:t>To track essential employee information including personal details, job roles, salary structures, qualifications, leave records, and payroll data. Each data component is stored in dedicated tables to avoid redundancy and improve clarity.</a:t>
            </a:r>
          </a:p>
          <a:p>
            <a:pPr indent="-457200">
              <a:buSzPts val="2800"/>
            </a:pPr>
            <a:r>
              <a:rPr lang="en-GB" sz="2400" noProof="0" dirty="0"/>
              <a:t>To enable efficient querying and analysis of employee data for payroll calculation, leave tracking, and department-wise reporting. The system provides meaningful insights to support HR and financial decision making.</a:t>
            </a:r>
          </a:p>
        </p:txBody>
      </p:sp>
    </p:spTree>
    <p:extLst>
      <p:ext uri="{BB962C8B-B14F-4D97-AF65-F5344CB8AC3E}">
        <p14:creationId xmlns:p14="http://schemas.microsoft.com/office/powerpoint/2010/main" val="65052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26CE51D-410E-5970-9EC9-F904EF4B569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3118441B-A415-0311-24B3-8F8522740D64}"/>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ER Diagram and Schema Explanation</a:t>
            </a:r>
          </a:p>
        </p:txBody>
      </p:sp>
      <p:sp>
        <p:nvSpPr>
          <p:cNvPr id="111" name="Google Shape;111;p4">
            <a:extLst>
              <a:ext uri="{FF2B5EF4-FFF2-40B4-BE49-F238E27FC236}">
                <a16:creationId xmlns:a16="http://schemas.microsoft.com/office/drawing/2014/main" id="{7D3A14BF-75C8-E8D9-D229-3F60FF871ABB}"/>
              </a:ext>
            </a:extLst>
          </p:cNvPr>
          <p:cNvSpPr txBox="1">
            <a:spLocks noGrp="1"/>
          </p:cNvSpPr>
          <p:nvPr>
            <p:ph type="body" idx="1"/>
          </p:nvPr>
        </p:nvSpPr>
        <p:spPr>
          <a:xfrm>
            <a:off x="8046720" y="1040382"/>
            <a:ext cx="3630168" cy="4988179"/>
          </a:xfrm>
          <a:prstGeom prst="rect">
            <a:avLst/>
          </a:prstGeom>
          <a:noFill/>
          <a:ln>
            <a:noFill/>
          </a:ln>
        </p:spPr>
        <p:txBody>
          <a:bodyPr spcFirstLastPara="1" wrap="square" lIns="91425" tIns="45700" rIns="91425" bIns="45700" anchor="t" anchorCtr="0">
            <a:normAutofit/>
          </a:bodyPr>
          <a:lstStyle/>
          <a:p>
            <a:pPr marL="114300" indent="0">
              <a:buNone/>
            </a:pPr>
            <a:r>
              <a:rPr lang="en-GB" b="1" noProof="0" dirty="0"/>
              <a:t>Relationships </a:t>
            </a:r>
          </a:p>
          <a:p>
            <a:r>
              <a:rPr lang="en-GB" sz="1800" noProof="0" dirty="0"/>
              <a:t>One-to-Many from </a:t>
            </a:r>
            <a:r>
              <a:rPr lang="en-GB" sz="1800" b="1" noProof="0" dirty="0"/>
              <a:t>JobDepartment</a:t>
            </a:r>
            <a:r>
              <a:rPr lang="en-GB" sz="1800" noProof="0" dirty="0"/>
              <a:t> to </a:t>
            </a:r>
            <a:r>
              <a:rPr lang="en-GB" sz="1800" b="1" noProof="0" dirty="0"/>
              <a:t>Employees</a:t>
            </a:r>
            <a:endParaRPr lang="en-GB" sz="1800" noProof="0" dirty="0"/>
          </a:p>
          <a:p>
            <a:r>
              <a:rPr lang="en-GB" sz="1800" noProof="0" dirty="0"/>
              <a:t>One-to-Many from </a:t>
            </a:r>
            <a:r>
              <a:rPr lang="en-GB" sz="1800" b="1" noProof="0" dirty="0"/>
              <a:t>Employee</a:t>
            </a:r>
            <a:r>
              <a:rPr lang="en-GB" sz="1800" noProof="0" dirty="0"/>
              <a:t> to </a:t>
            </a:r>
            <a:r>
              <a:rPr lang="en-GB" sz="1800" b="1" noProof="0" dirty="0"/>
              <a:t>Qualifications</a:t>
            </a:r>
            <a:endParaRPr lang="en-GB" sz="1800" noProof="0" dirty="0"/>
          </a:p>
          <a:p>
            <a:r>
              <a:rPr lang="en-GB" sz="1800" noProof="0" dirty="0"/>
              <a:t>One-to-Many` from </a:t>
            </a:r>
            <a:r>
              <a:rPr lang="en-GB" sz="1800" b="1" noProof="0" dirty="0"/>
              <a:t>Employee</a:t>
            </a:r>
            <a:r>
              <a:rPr lang="en-GB" sz="1800" noProof="0" dirty="0"/>
              <a:t> to </a:t>
            </a:r>
            <a:r>
              <a:rPr lang="en-GB" sz="1800" b="1" noProof="0" dirty="0"/>
              <a:t>Leaves</a:t>
            </a:r>
            <a:endParaRPr lang="en-GB" sz="1800" noProof="0" dirty="0"/>
          </a:p>
          <a:p>
            <a:r>
              <a:rPr lang="en-GB" sz="1800" noProof="0" dirty="0"/>
              <a:t>One-to-Many from </a:t>
            </a:r>
            <a:r>
              <a:rPr lang="en-GB" sz="1800" b="1" noProof="0" dirty="0"/>
              <a:t>Employee</a:t>
            </a:r>
            <a:r>
              <a:rPr lang="en-GB" sz="1800" noProof="0" dirty="0"/>
              <a:t> to </a:t>
            </a:r>
            <a:r>
              <a:rPr lang="en-GB" sz="1800" b="1" noProof="0" dirty="0"/>
              <a:t>Payroll records</a:t>
            </a:r>
            <a:endParaRPr lang="en-GB" sz="1800" noProof="0" dirty="0"/>
          </a:p>
          <a:p>
            <a:r>
              <a:rPr lang="en-GB" sz="1800" noProof="0" dirty="0"/>
              <a:t>One-to-one from </a:t>
            </a:r>
            <a:r>
              <a:rPr lang="en-GB" sz="1800" b="1" noProof="0" dirty="0"/>
              <a:t>JobDepartment</a:t>
            </a:r>
            <a:r>
              <a:rPr lang="en-GB" sz="1800" noProof="0" dirty="0"/>
              <a:t> to </a:t>
            </a:r>
            <a:r>
              <a:rPr lang="en-GB" sz="1800" b="1" noProof="0" dirty="0"/>
              <a:t>SalaryBonus</a:t>
            </a:r>
            <a:endParaRPr lang="en-GB" sz="1800" noProof="0" dirty="0"/>
          </a:p>
          <a:p>
            <a:pPr marL="0" indent="0">
              <a:buSzPts val="2800"/>
              <a:buNone/>
            </a:pPr>
            <a:endParaRPr lang="en-GB" sz="1200" noProof="0" dirty="0"/>
          </a:p>
        </p:txBody>
      </p:sp>
      <p:pic>
        <p:nvPicPr>
          <p:cNvPr id="2" name="Picture 1">
            <a:extLst>
              <a:ext uri="{FF2B5EF4-FFF2-40B4-BE49-F238E27FC236}">
                <a16:creationId xmlns:a16="http://schemas.microsoft.com/office/drawing/2014/main" id="{37A1F4C4-1348-3083-A700-12F6A4CFD218}"/>
              </a:ext>
            </a:extLst>
          </p:cNvPr>
          <p:cNvPicPr/>
          <p:nvPr/>
        </p:nvPicPr>
        <p:blipFill>
          <a:blip r:embed="rId3"/>
          <a:stretch>
            <a:fillRect/>
          </a:stretch>
        </p:blipFill>
        <p:spPr>
          <a:xfrm>
            <a:off x="694944" y="1133505"/>
            <a:ext cx="7443216" cy="5093559"/>
          </a:xfrm>
          <a:prstGeom prst="rect">
            <a:avLst/>
          </a:prstGeom>
        </p:spPr>
      </p:pic>
    </p:spTree>
    <p:extLst>
      <p:ext uri="{BB962C8B-B14F-4D97-AF65-F5344CB8AC3E}">
        <p14:creationId xmlns:p14="http://schemas.microsoft.com/office/powerpoint/2010/main" val="1611121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6DB00B6-BD91-64CC-7CE0-8E10331A1304}"/>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06B830A-9000-0257-FA48-2963702D7614}"/>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Tables</a:t>
            </a:r>
          </a:p>
        </p:txBody>
      </p:sp>
      <p:pic>
        <p:nvPicPr>
          <p:cNvPr id="3" name="Picture 2">
            <a:extLst>
              <a:ext uri="{FF2B5EF4-FFF2-40B4-BE49-F238E27FC236}">
                <a16:creationId xmlns:a16="http://schemas.microsoft.com/office/drawing/2014/main" id="{17946BB3-A362-3220-AF16-2A17F0229698}"/>
              </a:ext>
            </a:extLst>
          </p:cNvPr>
          <p:cNvPicPr>
            <a:picLocks noChangeAspect="1"/>
          </p:cNvPicPr>
          <p:nvPr/>
        </p:nvPicPr>
        <p:blipFill>
          <a:blip r:embed="rId3"/>
          <a:stretch>
            <a:fillRect/>
          </a:stretch>
        </p:blipFill>
        <p:spPr>
          <a:xfrm>
            <a:off x="684880" y="1090798"/>
            <a:ext cx="6365144" cy="3243458"/>
          </a:xfrm>
          <a:prstGeom prst="rect">
            <a:avLst/>
          </a:prstGeom>
        </p:spPr>
      </p:pic>
      <p:pic>
        <p:nvPicPr>
          <p:cNvPr id="5" name="Picture 4">
            <a:extLst>
              <a:ext uri="{FF2B5EF4-FFF2-40B4-BE49-F238E27FC236}">
                <a16:creationId xmlns:a16="http://schemas.microsoft.com/office/drawing/2014/main" id="{246B8388-91C7-0347-C9A5-F2221350B91C}"/>
              </a:ext>
            </a:extLst>
          </p:cNvPr>
          <p:cNvPicPr>
            <a:picLocks noChangeAspect="1"/>
          </p:cNvPicPr>
          <p:nvPr/>
        </p:nvPicPr>
        <p:blipFill>
          <a:blip r:embed="rId4"/>
          <a:stretch>
            <a:fillRect/>
          </a:stretch>
        </p:blipFill>
        <p:spPr>
          <a:xfrm>
            <a:off x="7401272" y="1858270"/>
            <a:ext cx="4105848" cy="3543795"/>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5">
            <p14:nvContentPartPr>
              <p14:cNvPr id="7" name="Ink 6">
                <a:extLst>
                  <a:ext uri="{FF2B5EF4-FFF2-40B4-BE49-F238E27FC236}">
                    <a16:creationId xmlns:a16="http://schemas.microsoft.com/office/drawing/2014/main" id="{4095BE6B-B1E1-7C00-1EE7-9BF221D51BE7}"/>
                  </a:ext>
                </a:extLst>
              </p14:cNvPr>
              <p14:cNvContentPartPr/>
              <p14:nvPr/>
            </p14:nvContentPartPr>
            <p14:xfrm>
              <a:off x="4462056" y="2962656"/>
              <a:ext cx="360" cy="360"/>
            </p14:xfrm>
          </p:contentPart>
        </mc:Choice>
        <mc:Fallback xmlns="">
          <p:pic>
            <p:nvPicPr>
              <p:cNvPr id="7" name="Ink 6">
                <a:extLst>
                  <a:ext uri="{FF2B5EF4-FFF2-40B4-BE49-F238E27FC236}">
                    <a16:creationId xmlns:a16="http://schemas.microsoft.com/office/drawing/2014/main" id="{4095BE6B-B1E1-7C00-1EE7-9BF221D51BE7}"/>
                  </a:ext>
                </a:extLst>
              </p:cNvPr>
              <p:cNvPicPr/>
              <p:nvPr/>
            </p:nvPicPr>
            <p:blipFill>
              <a:blip r:embed="rId6"/>
              <a:stretch>
                <a:fillRect/>
              </a:stretch>
            </p:blipFill>
            <p:spPr>
              <a:xfrm>
                <a:off x="4453416" y="295401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8" name="Ink 7">
                <a:extLst>
                  <a:ext uri="{FF2B5EF4-FFF2-40B4-BE49-F238E27FC236}">
                    <a16:creationId xmlns:a16="http://schemas.microsoft.com/office/drawing/2014/main" id="{D030E69D-C8CD-B0E7-2843-7E0864884219}"/>
                  </a:ext>
                </a:extLst>
              </p14:cNvPr>
              <p14:cNvContentPartPr/>
              <p14:nvPr/>
            </p14:nvContentPartPr>
            <p14:xfrm>
              <a:off x="2276496" y="2743416"/>
              <a:ext cx="360" cy="360"/>
            </p14:xfrm>
          </p:contentPart>
        </mc:Choice>
        <mc:Fallback xmlns="">
          <p:pic>
            <p:nvPicPr>
              <p:cNvPr id="8" name="Ink 7">
                <a:extLst>
                  <a:ext uri="{FF2B5EF4-FFF2-40B4-BE49-F238E27FC236}">
                    <a16:creationId xmlns:a16="http://schemas.microsoft.com/office/drawing/2014/main" id="{D030E69D-C8CD-B0E7-2843-7E0864884219}"/>
                  </a:ext>
                </a:extLst>
              </p:cNvPr>
              <p:cNvPicPr/>
              <p:nvPr/>
            </p:nvPicPr>
            <p:blipFill>
              <a:blip r:embed="rId8"/>
              <a:stretch>
                <a:fillRect/>
              </a:stretch>
            </p:blipFill>
            <p:spPr>
              <a:xfrm>
                <a:off x="2267856" y="2734416"/>
                <a:ext cx="18000" cy="18000"/>
              </a:xfrm>
              <a:prstGeom prst="rect">
                <a:avLst/>
              </a:prstGeom>
            </p:spPr>
          </p:pic>
        </mc:Fallback>
      </mc:AlternateContent>
      <p:sp>
        <p:nvSpPr>
          <p:cNvPr id="10" name="TextBox 9">
            <a:extLst>
              <a:ext uri="{FF2B5EF4-FFF2-40B4-BE49-F238E27FC236}">
                <a16:creationId xmlns:a16="http://schemas.microsoft.com/office/drawing/2014/main" id="{82FDF8D0-B695-D2BE-3E04-3AF84AF018AB}"/>
              </a:ext>
            </a:extLst>
          </p:cNvPr>
          <p:cNvSpPr txBox="1"/>
          <p:nvPr/>
        </p:nvSpPr>
        <p:spPr>
          <a:xfrm>
            <a:off x="684880" y="4608576"/>
            <a:ext cx="2158904" cy="307777"/>
          </a:xfrm>
          <a:prstGeom prst="rect">
            <a:avLst/>
          </a:prstGeom>
          <a:noFill/>
        </p:spPr>
        <p:txBody>
          <a:bodyPr wrap="square" rtlCol="0">
            <a:spAutoFit/>
          </a:bodyPr>
          <a:lstStyle/>
          <a:p>
            <a:r>
              <a:rPr lang="en-GB" b="1" noProof="0" dirty="0">
                <a:solidFill>
                  <a:schemeClr val="tx1"/>
                </a:solidFill>
              </a:rPr>
              <a:t>1. Job Department</a:t>
            </a:r>
          </a:p>
        </p:txBody>
      </p:sp>
      <p:sp>
        <p:nvSpPr>
          <p:cNvPr id="11" name="TextBox 10">
            <a:extLst>
              <a:ext uri="{FF2B5EF4-FFF2-40B4-BE49-F238E27FC236}">
                <a16:creationId xmlns:a16="http://schemas.microsoft.com/office/drawing/2014/main" id="{68175D88-1327-E107-FBCF-84B3C76AF00B}"/>
              </a:ext>
            </a:extLst>
          </p:cNvPr>
          <p:cNvSpPr txBox="1"/>
          <p:nvPr/>
        </p:nvSpPr>
        <p:spPr>
          <a:xfrm>
            <a:off x="7401272" y="5762628"/>
            <a:ext cx="2313432" cy="307777"/>
          </a:xfrm>
          <a:prstGeom prst="rect">
            <a:avLst/>
          </a:prstGeom>
          <a:noFill/>
        </p:spPr>
        <p:txBody>
          <a:bodyPr wrap="square" rtlCol="0">
            <a:spAutoFit/>
          </a:bodyPr>
          <a:lstStyle/>
          <a:p>
            <a:r>
              <a:rPr lang="en-GB" b="1" noProof="0" dirty="0"/>
              <a:t>2. Salary Bonus</a:t>
            </a:r>
          </a:p>
        </p:txBody>
      </p:sp>
    </p:spTree>
    <p:extLst>
      <p:ext uri="{BB962C8B-B14F-4D97-AF65-F5344CB8AC3E}">
        <p14:creationId xmlns:p14="http://schemas.microsoft.com/office/powerpoint/2010/main" val="3999323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A6C6B31-C76C-0608-8698-A1419897514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7A43860-337B-1C0D-2895-5B24F1B1FF1F}"/>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Tables</a:t>
            </a:r>
          </a:p>
        </p:txBody>
      </p:sp>
      <p:pic>
        <p:nvPicPr>
          <p:cNvPr id="7" name="Picture 6">
            <a:extLst>
              <a:ext uri="{FF2B5EF4-FFF2-40B4-BE49-F238E27FC236}">
                <a16:creationId xmlns:a16="http://schemas.microsoft.com/office/drawing/2014/main" id="{BBBC1729-A5A7-E44D-672C-6908C7282F2F}"/>
              </a:ext>
            </a:extLst>
          </p:cNvPr>
          <p:cNvPicPr>
            <a:picLocks noChangeAspect="1"/>
          </p:cNvPicPr>
          <p:nvPr/>
        </p:nvPicPr>
        <p:blipFill>
          <a:blip r:embed="rId3"/>
          <a:stretch>
            <a:fillRect/>
          </a:stretch>
        </p:blipFill>
        <p:spPr>
          <a:xfrm>
            <a:off x="6490123" y="2450593"/>
            <a:ext cx="5385858" cy="3120446"/>
          </a:xfrm>
          <a:prstGeom prst="rect">
            <a:avLst/>
          </a:prstGeom>
        </p:spPr>
      </p:pic>
      <p:pic>
        <p:nvPicPr>
          <p:cNvPr id="8" name="Picture 7">
            <a:extLst>
              <a:ext uri="{FF2B5EF4-FFF2-40B4-BE49-F238E27FC236}">
                <a16:creationId xmlns:a16="http://schemas.microsoft.com/office/drawing/2014/main" id="{651B914E-2012-8F85-6328-05CACC7AF9DB}"/>
              </a:ext>
            </a:extLst>
          </p:cNvPr>
          <p:cNvPicPr>
            <a:picLocks noChangeAspect="1"/>
          </p:cNvPicPr>
          <p:nvPr/>
        </p:nvPicPr>
        <p:blipFill>
          <a:blip r:embed="rId4"/>
          <a:stretch>
            <a:fillRect/>
          </a:stretch>
        </p:blipFill>
        <p:spPr>
          <a:xfrm>
            <a:off x="470379" y="1061978"/>
            <a:ext cx="5625621" cy="3120446"/>
          </a:xfrm>
          <a:prstGeom prst="rect">
            <a:avLst/>
          </a:prstGeom>
        </p:spPr>
      </p:pic>
      <p:sp>
        <p:nvSpPr>
          <p:cNvPr id="10" name="TextBox 9">
            <a:extLst>
              <a:ext uri="{FF2B5EF4-FFF2-40B4-BE49-F238E27FC236}">
                <a16:creationId xmlns:a16="http://schemas.microsoft.com/office/drawing/2014/main" id="{B81B0FD7-0714-765B-BAF6-6F90B0842390}"/>
              </a:ext>
            </a:extLst>
          </p:cNvPr>
          <p:cNvSpPr txBox="1"/>
          <p:nvPr/>
        </p:nvSpPr>
        <p:spPr>
          <a:xfrm>
            <a:off x="470379" y="4489704"/>
            <a:ext cx="2071652" cy="307777"/>
          </a:xfrm>
          <a:prstGeom prst="rect">
            <a:avLst/>
          </a:prstGeom>
          <a:noFill/>
        </p:spPr>
        <p:txBody>
          <a:bodyPr wrap="square" rtlCol="0">
            <a:spAutoFit/>
          </a:bodyPr>
          <a:lstStyle/>
          <a:p>
            <a:r>
              <a:rPr lang="en-GB" b="1" noProof="0" dirty="0"/>
              <a:t>3. Payroll</a:t>
            </a:r>
          </a:p>
        </p:txBody>
      </p:sp>
      <p:sp>
        <p:nvSpPr>
          <p:cNvPr id="11" name="TextBox 10">
            <a:extLst>
              <a:ext uri="{FF2B5EF4-FFF2-40B4-BE49-F238E27FC236}">
                <a16:creationId xmlns:a16="http://schemas.microsoft.com/office/drawing/2014/main" id="{A93D75CF-F2C8-A0E1-9E5E-B6DFB59B1D37}"/>
              </a:ext>
            </a:extLst>
          </p:cNvPr>
          <p:cNvSpPr txBox="1"/>
          <p:nvPr/>
        </p:nvSpPr>
        <p:spPr>
          <a:xfrm>
            <a:off x="6490123" y="5861304"/>
            <a:ext cx="1975104" cy="307777"/>
          </a:xfrm>
          <a:prstGeom prst="rect">
            <a:avLst/>
          </a:prstGeom>
          <a:noFill/>
        </p:spPr>
        <p:txBody>
          <a:bodyPr wrap="square" rtlCol="0">
            <a:spAutoFit/>
          </a:bodyPr>
          <a:lstStyle/>
          <a:p>
            <a:r>
              <a:rPr lang="en-GB" b="1" noProof="0" dirty="0"/>
              <a:t>4. Qualification</a:t>
            </a:r>
          </a:p>
        </p:txBody>
      </p:sp>
    </p:spTree>
    <p:extLst>
      <p:ext uri="{BB962C8B-B14F-4D97-AF65-F5344CB8AC3E}">
        <p14:creationId xmlns:p14="http://schemas.microsoft.com/office/powerpoint/2010/main" val="2743304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58B4907-3697-3632-7A4E-D6EF1867A67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2AD8FA8-4AC1-1E13-C9EB-AFA99D8815CC}"/>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Tables</a:t>
            </a:r>
          </a:p>
        </p:txBody>
      </p:sp>
      <p:pic>
        <p:nvPicPr>
          <p:cNvPr id="3" name="Picture 2">
            <a:extLst>
              <a:ext uri="{FF2B5EF4-FFF2-40B4-BE49-F238E27FC236}">
                <a16:creationId xmlns:a16="http://schemas.microsoft.com/office/drawing/2014/main" id="{AC3CF57C-0AF4-BD31-0FC6-E8572922E193}"/>
              </a:ext>
            </a:extLst>
          </p:cNvPr>
          <p:cNvPicPr>
            <a:picLocks noChangeAspect="1"/>
          </p:cNvPicPr>
          <p:nvPr/>
        </p:nvPicPr>
        <p:blipFill>
          <a:blip r:embed="rId3"/>
          <a:stretch>
            <a:fillRect/>
          </a:stretch>
        </p:blipFill>
        <p:spPr>
          <a:xfrm>
            <a:off x="662854" y="1171706"/>
            <a:ext cx="4146890" cy="3144262"/>
          </a:xfrm>
          <a:prstGeom prst="rect">
            <a:avLst/>
          </a:prstGeom>
        </p:spPr>
      </p:pic>
      <p:pic>
        <p:nvPicPr>
          <p:cNvPr id="6" name="Picture 5">
            <a:extLst>
              <a:ext uri="{FF2B5EF4-FFF2-40B4-BE49-F238E27FC236}">
                <a16:creationId xmlns:a16="http://schemas.microsoft.com/office/drawing/2014/main" id="{248A68A9-6492-0367-96EE-AF6A3039E940}"/>
              </a:ext>
            </a:extLst>
          </p:cNvPr>
          <p:cNvPicPr>
            <a:picLocks noChangeAspect="1"/>
          </p:cNvPicPr>
          <p:nvPr/>
        </p:nvPicPr>
        <p:blipFill>
          <a:blip r:embed="rId4"/>
          <a:stretch>
            <a:fillRect/>
          </a:stretch>
        </p:blipFill>
        <p:spPr>
          <a:xfrm>
            <a:off x="5466272" y="2478533"/>
            <a:ext cx="6206229" cy="3071875"/>
          </a:xfrm>
          <a:prstGeom prst="rect">
            <a:avLst/>
          </a:prstGeom>
        </p:spPr>
      </p:pic>
      <p:sp>
        <p:nvSpPr>
          <p:cNvPr id="7" name="TextBox 6">
            <a:extLst>
              <a:ext uri="{FF2B5EF4-FFF2-40B4-BE49-F238E27FC236}">
                <a16:creationId xmlns:a16="http://schemas.microsoft.com/office/drawing/2014/main" id="{8FEAEEAB-4155-E9B3-79A1-CBDC13B4AAC1}"/>
              </a:ext>
            </a:extLst>
          </p:cNvPr>
          <p:cNvSpPr txBox="1"/>
          <p:nvPr/>
        </p:nvSpPr>
        <p:spPr>
          <a:xfrm>
            <a:off x="662854" y="4582703"/>
            <a:ext cx="2025482" cy="307777"/>
          </a:xfrm>
          <a:prstGeom prst="rect">
            <a:avLst/>
          </a:prstGeom>
          <a:noFill/>
        </p:spPr>
        <p:txBody>
          <a:bodyPr wrap="square" rtlCol="0">
            <a:spAutoFit/>
          </a:bodyPr>
          <a:lstStyle/>
          <a:p>
            <a:r>
              <a:rPr lang="en-GB" b="1" noProof="0" dirty="0"/>
              <a:t>5. Leaves</a:t>
            </a:r>
          </a:p>
        </p:txBody>
      </p:sp>
      <p:sp>
        <p:nvSpPr>
          <p:cNvPr id="8" name="TextBox 7">
            <a:extLst>
              <a:ext uri="{FF2B5EF4-FFF2-40B4-BE49-F238E27FC236}">
                <a16:creationId xmlns:a16="http://schemas.microsoft.com/office/drawing/2014/main" id="{E0041877-18ED-9D21-47E8-6509F249D71F}"/>
              </a:ext>
            </a:extLst>
          </p:cNvPr>
          <p:cNvSpPr txBox="1"/>
          <p:nvPr/>
        </p:nvSpPr>
        <p:spPr>
          <a:xfrm>
            <a:off x="5466272" y="5678424"/>
            <a:ext cx="2066544" cy="307777"/>
          </a:xfrm>
          <a:prstGeom prst="rect">
            <a:avLst/>
          </a:prstGeom>
          <a:noFill/>
        </p:spPr>
        <p:txBody>
          <a:bodyPr wrap="square" rtlCol="0">
            <a:spAutoFit/>
          </a:bodyPr>
          <a:lstStyle/>
          <a:p>
            <a:r>
              <a:rPr lang="en-GB" b="1" noProof="0" dirty="0"/>
              <a:t>6. Employee</a:t>
            </a:r>
          </a:p>
        </p:txBody>
      </p:sp>
    </p:spTree>
    <p:extLst>
      <p:ext uri="{BB962C8B-B14F-4D97-AF65-F5344CB8AC3E}">
        <p14:creationId xmlns:p14="http://schemas.microsoft.com/office/powerpoint/2010/main" val="262134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61FC147-EB86-A1D8-279E-08C52785CD7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4C3EBA7F-47F6-FA51-8474-B3D31EBD46A7}"/>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Key Analysis Questions</a:t>
            </a:r>
          </a:p>
        </p:txBody>
      </p:sp>
      <p:sp>
        <p:nvSpPr>
          <p:cNvPr id="111" name="Google Shape;111;p4">
            <a:extLst>
              <a:ext uri="{FF2B5EF4-FFF2-40B4-BE49-F238E27FC236}">
                <a16:creationId xmlns:a16="http://schemas.microsoft.com/office/drawing/2014/main" id="{872E6C10-82D8-05A9-D9A1-B097700D92CD}"/>
              </a:ext>
            </a:extLst>
          </p:cNvPr>
          <p:cNvSpPr txBox="1">
            <a:spLocks noGrp="1"/>
          </p:cNvSpPr>
          <p:nvPr>
            <p:ph type="body" idx="1"/>
          </p:nvPr>
        </p:nvSpPr>
        <p:spPr>
          <a:xfrm>
            <a:off x="639160" y="1010412"/>
            <a:ext cx="10515600" cy="5152644"/>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GB" b="1" noProof="0" dirty="0"/>
              <a:t>1. EMPLOYEE INSIGHTS </a:t>
            </a:r>
          </a:p>
          <a:p>
            <a:pPr lvl="0" fontAlgn="base"/>
            <a:r>
              <a:rPr lang="en-GB" noProof="0" dirty="0"/>
              <a:t>How many unique employees are currently in the system?  </a:t>
            </a:r>
          </a:p>
          <a:p>
            <a:pPr lvl="0" fontAlgn="base"/>
            <a:r>
              <a:rPr lang="en-GB" noProof="0" dirty="0"/>
              <a:t>Which departments have the highest number of employees?  </a:t>
            </a:r>
          </a:p>
          <a:p>
            <a:pPr lvl="0" fontAlgn="base"/>
            <a:r>
              <a:rPr lang="en-GB" noProof="0" dirty="0"/>
              <a:t>What is the average salary per department? </a:t>
            </a:r>
          </a:p>
          <a:p>
            <a:pPr lvl="0" fontAlgn="base"/>
            <a:r>
              <a:rPr lang="en-GB" noProof="0" dirty="0"/>
              <a:t>Who are the top 5 highest-paid employees? </a:t>
            </a:r>
          </a:p>
          <a:p>
            <a:pPr lvl="0" fontAlgn="base"/>
            <a:r>
              <a:rPr lang="en-GB" noProof="0" dirty="0"/>
              <a:t>What is the total salary expenditure across the company? </a:t>
            </a:r>
          </a:p>
          <a:p>
            <a:pPr lvl="0" fontAlgn="base"/>
            <a:endParaRPr lang="en-GB" sz="2400" b="1" noProof="0" dirty="0"/>
          </a:p>
          <a:p>
            <a:pPr marL="114300" lvl="0" indent="0" fontAlgn="base">
              <a:buNone/>
            </a:pPr>
            <a:r>
              <a:rPr lang="en-GB" sz="2400" b="1" noProof="0" dirty="0"/>
              <a:t>2. JOB ROLE AND DEPARTMENT ANALYSIS </a:t>
            </a:r>
          </a:p>
          <a:p>
            <a:pPr marL="285750" lvl="0" indent="-285750" fontAlgn="base">
              <a:buFont typeface="Arial" panose="020B0604020202020204" pitchFamily="34" charset="0"/>
              <a:buChar char="•"/>
            </a:pPr>
            <a:r>
              <a:rPr lang="en-GB" noProof="0" dirty="0"/>
              <a:t>How many different job roles exist in each department? </a:t>
            </a:r>
          </a:p>
          <a:p>
            <a:pPr marL="285750" lvl="0" indent="-285750" fontAlgn="base">
              <a:buFont typeface="Arial" panose="020B0604020202020204" pitchFamily="34" charset="0"/>
              <a:buChar char="•"/>
            </a:pPr>
            <a:r>
              <a:rPr lang="en-GB" noProof="0" dirty="0"/>
              <a:t>What is the average salary range per department? </a:t>
            </a:r>
          </a:p>
          <a:p>
            <a:pPr marL="285750" lvl="0" indent="-285750" fontAlgn="base">
              <a:buFont typeface="Arial" panose="020B0604020202020204" pitchFamily="34" charset="0"/>
              <a:buChar char="•"/>
            </a:pPr>
            <a:r>
              <a:rPr lang="en-GB" noProof="0" dirty="0"/>
              <a:t>Which job roles offer the highest salary? </a:t>
            </a:r>
          </a:p>
          <a:p>
            <a:pPr marL="285750" lvl="0" indent="-285750" fontAlgn="base">
              <a:buFont typeface="Arial" panose="020B0604020202020204" pitchFamily="34" charset="0"/>
              <a:buChar char="•"/>
            </a:pPr>
            <a:r>
              <a:rPr lang="en-GB" noProof="0" dirty="0"/>
              <a:t>Which departments have the highest total salary allocation? </a:t>
            </a:r>
          </a:p>
          <a:p>
            <a:endParaRPr lang="en-GB" noProof="0" dirty="0"/>
          </a:p>
          <a:p>
            <a:pPr lvl="0" fontAlgn="base"/>
            <a:endParaRPr lang="en-GB" noProof="0" dirty="0"/>
          </a:p>
          <a:p>
            <a:pPr marL="0" lvl="0" indent="0" algn="l" rtl="0">
              <a:lnSpc>
                <a:spcPct val="90000"/>
              </a:lnSpc>
              <a:spcBef>
                <a:spcPts val="1000"/>
              </a:spcBef>
              <a:spcAft>
                <a:spcPts val="0"/>
              </a:spcAft>
              <a:buClr>
                <a:schemeClr val="dk1"/>
              </a:buClr>
              <a:buSzPts val="2800"/>
              <a:buNone/>
            </a:pPr>
            <a:endParaRPr lang="en-GB" noProof="0" dirty="0"/>
          </a:p>
        </p:txBody>
      </p:sp>
    </p:spTree>
    <p:extLst>
      <p:ext uri="{BB962C8B-B14F-4D97-AF65-F5344CB8AC3E}">
        <p14:creationId xmlns:p14="http://schemas.microsoft.com/office/powerpoint/2010/main" val="2717649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57ED7CC-B397-EF99-27D9-5ACFE7BA6EE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EAE02C2-813B-B0DE-0AAA-C33EE9A7EB3A}"/>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Key Analysis Questions</a:t>
            </a:r>
          </a:p>
        </p:txBody>
      </p:sp>
      <p:sp>
        <p:nvSpPr>
          <p:cNvPr id="111" name="Google Shape;111;p4">
            <a:extLst>
              <a:ext uri="{FF2B5EF4-FFF2-40B4-BE49-F238E27FC236}">
                <a16:creationId xmlns:a16="http://schemas.microsoft.com/office/drawing/2014/main" id="{C76B19EE-7BDB-E175-8664-5F7567A03267}"/>
              </a:ext>
            </a:extLst>
          </p:cNvPr>
          <p:cNvSpPr txBox="1">
            <a:spLocks noGrp="1"/>
          </p:cNvSpPr>
          <p:nvPr>
            <p:ph type="body" idx="1"/>
          </p:nvPr>
        </p:nvSpPr>
        <p:spPr>
          <a:xfrm>
            <a:off x="639160" y="1010412"/>
            <a:ext cx="10515600" cy="5399532"/>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GB" b="1" noProof="0" dirty="0"/>
              <a:t>3. QUALIFICATION AND SKILLS ANALYSIS </a:t>
            </a:r>
          </a:p>
          <a:p>
            <a:pPr lvl="0" fontAlgn="base"/>
            <a:r>
              <a:rPr lang="en-GB" noProof="0" dirty="0"/>
              <a:t>How many employees have at least one qualification listed? </a:t>
            </a:r>
          </a:p>
          <a:p>
            <a:pPr lvl="0" fontAlgn="base"/>
            <a:r>
              <a:rPr lang="en-GB" noProof="0" dirty="0"/>
              <a:t>Which positions require the most qualifications? </a:t>
            </a:r>
          </a:p>
          <a:p>
            <a:pPr lvl="0" fontAlgn="base"/>
            <a:r>
              <a:rPr lang="en-GB" noProof="0" dirty="0"/>
              <a:t>Which employees have the highest number of qualifications?  </a:t>
            </a:r>
          </a:p>
          <a:p>
            <a:pPr marL="114300" indent="0">
              <a:buNone/>
            </a:pPr>
            <a:endParaRPr lang="en-GB" b="1" noProof="0" dirty="0"/>
          </a:p>
          <a:p>
            <a:pPr marL="114300" indent="0">
              <a:buNone/>
            </a:pPr>
            <a:r>
              <a:rPr lang="en-GB" b="1" noProof="0" dirty="0"/>
              <a:t>4. LEAVE AND ABSENCE PATTERNS </a:t>
            </a:r>
          </a:p>
          <a:p>
            <a:pPr lvl="0" fontAlgn="base"/>
            <a:r>
              <a:rPr lang="en-GB" noProof="0" dirty="0"/>
              <a:t>Which year had the most employees taking leaves? </a:t>
            </a:r>
          </a:p>
          <a:p>
            <a:pPr lvl="0" fontAlgn="base"/>
            <a:r>
              <a:rPr lang="en-GB" noProof="0" dirty="0"/>
              <a:t>What is the average number of leave days taken by its employees per department? </a:t>
            </a:r>
          </a:p>
          <a:p>
            <a:pPr lvl="0" fontAlgn="base"/>
            <a:r>
              <a:rPr lang="en-GB" noProof="0" dirty="0"/>
              <a:t>Which employees have taken the most leaves? </a:t>
            </a:r>
          </a:p>
          <a:p>
            <a:pPr lvl="0" fontAlgn="base"/>
            <a:r>
              <a:rPr lang="en-GB" noProof="0" dirty="0"/>
              <a:t>What is the total number of leave days taken company-wide?  </a:t>
            </a:r>
          </a:p>
          <a:p>
            <a:pPr lvl="0" fontAlgn="base"/>
            <a:r>
              <a:rPr lang="en-GB" noProof="0" dirty="0"/>
              <a:t>How do leave days correlate with payroll amounts? </a:t>
            </a:r>
          </a:p>
          <a:p>
            <a:endParaRPr lang="en-GB" noProof="0" dirty="0"/>
          </a:p>
          <a:p>
            <a:pPr lvl="0" fontAlgn="base"/>
            <a:endParaRPr lang="en-GB" noProof="0" dirty="0"/>
          </a:p>
          <a:p>
            <a:pPr marL="0" lvl="0" indent="0" algn="l" rtl="0">
              <a:lnSpc>
                <a:spcPct val="90000"/>
              </a:lnSpc>
              <a:spcBef>
                <a:spcPts val="1000"/>
              </a:spcBef>
              <a:spcAft>
                <a:spcPts val="0"/>
              </a:spcAft>
              <a:buClr>
                <a:schemeClr val="dk1"/>
              </a:buClr>
              <a:buSzPts val="2800"/>
              <a:buNone/>
            </a:pPr>
            <a:endParaRPr lang="en-GB" noProof="0" dirty="0"/>
          </a:p>
        </p:txBody>
      </p:sp>
    </p:spTree>
    <p:extLst>
      <p:ext uri="{BB962C8B-B14F-4D97-AF65-F5344CB8AC3E}">
        <p14:creationId xmlns:p14="http://schemas.microsoft.com/office/powerpoint/2010/main" val="1311135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8AB1201-4041-D671-0000-87EDCF49DBD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BD8F241-FBDE-D2EA-BBEF-98031535561D}"/>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Key Analysis Questions</a:t>
            </a:r>
          </a:p>
        </p:txBody>
      </p:sp>
      <p:sp>
        <p:nvSpPr>
          <p:cNvPr id="111" name="Google Shape;111;p4">
            <a:extLst>
              <a:ext uri="{FF2B5EF4-FFF2-40B4-BE49-F238E27FC236}">
                <a16:creationId xmlns:a16="http://schemas.microsoft.com/office/drawing/2014/main" id="{0ECF383F-826F-CC37-6BF0-D3480A9FC7E6}"/>
              </a:ext>
            </a:extLst>
          </p:cNvPr>
          <p:cNvSpPr txBox="1">
            <a:spLocks noGrp="1"/>
          </p:cNvSpPr>
          <p:nvPr>
            <p:ph type="body" idx="1"/>
          </p:nvPr>
        </p:nvSpPr>
        <p:spPr>
          <a:xfrm>
            <a:off x="639160" y="1010412"/>
            <a:ext cx="10515600" cy="5152644"/>
          </a:xfrm>
          <a:prstGeom prst="rect">
            <a:avLst/>
          </a:prstGeom>
          <a:noFill/>
          <a:ln>
            <a:noFill/>
          </a:ln>
        </p:spPr>
        <p:txBody>
          <a:bodyPr spcFirstLastPara="1" wrap="square" lIns="91425" tIns="45700" rIns="91425" bIns="45700" anchor="t" anchorCtr="0">
            <a:normAutofit/>
          </a:bodyPr>
          <a:lstStyle/>
          <a:p>
            <a:pPr marL="114300" indent="0">
              <a:buNone/>
            </a:pPr>
            <a:r>
              <a:rPr lang="en-GB" sz="2600" b="1" noProof="0" dirty="0"/>
              <a:t>5. PAYROLL AND COMPENSATION ANALYSIS </a:t>
            </a:r>
          </a:p>
          <a:p>
            <a:pPr lvl="0" fontAlgn="base"/>
            <a:r>
              <a:rPr lang="en-GB" sz="2600" noProof="0" dirty="0"/>
              <a:t>What is the total monthly payroll processed? </a:t>
            </a:r>
          </a:p>
          <a:p>
            <a:pPr lvl="0" fontAlgn="base"/>
            <a:r>
              <a:rPr lang="en-GB" sz="2600" noProof="0" dirty="0"/>
              <a:t>What is the average bonus given per department? </a:t>
            </a:r>
          </a:p>
          <a:p>
            <a:pPr lvl="0" fontAlgn="base"/>
            <a:r>
              <a:rPr lang="en-GB" sz="2600" noProof="0" dirty="0"/>
              <a:t>Which department receives the highest total bonuses? </a:t>
            </a:r>
          </a:p>
          <a:p>
            <a:pPr lvl="0" fontAlgn="base"/>
            <a:r>
              <a:rPr lang="en-GB" sz="2600" noProof="0" dirty="0"/>
              <a:t>What is the average value of total_amount after considering leave deductions? </a:t>
            </a:r>
          </a:p>
          <a:p>
            <a:endParaRPr lang="en-GB" noProof="0" dirty="0"/>
          </a:p>
          <a:p>
            <a:pPr lvl="0" fontAlgn="base"/>
            <a:endParaRPr lang="en-GB" noProof="0" dirty="0"/>
          </a:p>
          <a:p>
            <a:pPr marL="0" lvl="0" indent="0" algn="l" rtl="0">
              <a:lnSpc>
                <a:spcPct val="90000"/>
              </a:lnSpc>
              <a:spcBef>
                <a:spcPts val="1000"/>
              </a:spcBef>
              <a:spcAft>
                <a:spcPts val="0"/>
              </a:spcAft>
              <a:buClr>
                <a:schemeClr val="dk1"/>
              </a:buClr>
              <a:buSzPts val="2800"/>
              <a:buNone/>
            </a:pPr>
            <a:endParaRPr lang="en-GB" noProof="0" dirty="0"/>
          </a:p>
        </p:txBody>
      </p:sp>
    </p:spTree>
    <p:extLst>
      <p:ext uri="{BB962C8B-B14F-4D97-AF65-F5344CB8AC3E}">
        <p14:creationId xmlns:p14="http://schemas.microsoft.com/office/powerpoint/2010/main" val="380314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03EA076-41E3-EAE5-3987-E5CE561C28D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DA0C894-DEDC-BE15-61AD-345EAB061F1B}"/>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5697B629-9CC5-A7A3-E005-74252CCB44D0}"/>
              </a:ext>
            </a:extLst>
          </p:cNvPr>
          <p:cNvSpPr txBox="1">
            <a:spLocks noGrp="1"/>
          </p:cNvSpPr>
          <p:nvPr>
            <p:ph type="body" idx="1"/>
          </p:nvPr>
        </p:nvSpPr>
        <p:spPr>
          <a:xfrm>
            <a:off x="630016" y="1933045"/>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1. How many unique employees are currently in the system? </a:t>
            </a:r>
          </a:p>
        </p:txBody>
      </p:sp>
      <p:sp>
        <p:nvSpPr>
          <p:cNvPr id="2" name="TextBox 1">
            <a:extLst>
              <a:ext uri="{FF2B5EF4-FFF2-40B4-BE49-F238E27FC236}">
                <a16:creationId xmlns:a16="http://schemas.microsoft.com/office/drawing/2014/main" id="{17A77FA8-153C-D333-46A3-FF3674E86643}"/>
              </a:ext>
            </a:extLst>
          </p:cNvPr>
          <p:cNvSpPr txBox="1"/>
          <p:nvPr/>
        </p:nvSpPr>
        <p:spPr>
          <a:xfrm>
            <a:off x="630016" y="1293632"/>
            <a:ext cx="4965192" cy="461665"/>
          </a:xfrm>
          <a:prstGeom prst="rect">
            <a:avLst/>
          </a:prstGeom>
          <a:noFill/>
        </p:spPr>
        <p:txBody>
          <a:bodyPr wrap="square" rtlCol="0">
            <a:spAutoFit/>
          </a:bodyPr>
          <a:lstStyle/>
          <a:p>
            <a:r>
              <a:rPr lang="en-GB" sz="2400" b="1" noProof="0" dirty="0"/>
              <a:t>Employee Insights</a:t>
            </a:r>
            <a:endParaRPr lang="en-GB" sz="2000" b="1" noProof="0" dirty="0"/>
          </a:p>
        </p:txBody>
      </p:sp>
      <p:pic>
        <p:nvPicPr>
          <p:cNvPr id="4" name="Picture 3">
            <a:extLst>
              <a:ext uri="{FF2B5EF4-FFF2-40B4-BE49-F238E27FC236}">
                <a16:creationId xmlns:a16="http://schemas.microsoft.com/office/drawing/2014/main" id="{595AF25E-A552-5144-F691-4944CF10709B}"/>
              </a:ext>
            </a:extLst>
          </p:cNvPr>
          <p:cNvPicPr>
            <a:picLocks noChangeAspect="1"/>
          </p:cNvPicPr>
          <p:nvPr/>
        </p:nvPicPr>
        <p:blipFill>
          <a:blip r:embed="rId3"/>
          <a:stretch>
            <a:fillRect/>
          </a:stretch>
        </p:blipFill>
        <p:spPr>
          <a:xfrm>
            <a:off x="665991" y="2796943"/>
            <a:ext cx="6939633" cy="1363577"/>
          </a:xfrm>
          <a:prstGeom prst="rect">
            <a:avLst/>
          </a:prstGeom>
        </p:spPr>
      </p:pic>
      <p:pic>
        <p:nvPicPr>
          <p:cNvPr id="8" name="Picture 7">
            <a:extLst>
              <a:ext uri="{FF2B5EF4-FFF2-40B4-BE49-F238E27FC236}">
                <a16:creationId xmlns:a16="http://schemas.microsoft.com/office/drawing/2014/main" id="{D760FCDE-9017-3086-9D68-89658DF371A7}"/>
              </a:ext>
            </a:extLst>
          </p:cNvPr>
          <p:cNvPicPr>
            <a:picLocks noChangeAspect="1"/>
          </p:cNvPicPr>
          <p:nvPr/>
        </p:nvPicPr>
        <p:blipFill>
          <a:blip r:embed="rId4"/>
          <a:stretch>
            <a:fillRect/>
          </a:stretch>
        </p:blipFill>
        <p:spPr>
          <a:xfrm>
            <a:off x="8865287" y="4238806"/>
            <a:ext cx="2034361" cy="1172583"/>
          </a:xfrm>
          <a:prstGeom prst="rect">
            <a:avLst/>
          </a:prstGeom>
        </p:spPr>
      </p:pic>
    </p:spTree>
    <p:extLst>
      <p:ext uri="{BB962C8B-B14F-4D97-AF65-F5344CB8AC3E}">
        <p14:creationId xmlns:p14="http://schemas.microsoft.com/office/powerpoint/2010/main" val="3781482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72C0EA9-2D94-1122-95E1-83177501DBA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4AAA3921-1C6E-0578-EFA2-9011FB432B00}"/>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703CDC9D-C3CD-3AD7-B7AF-E85F1A83F9FF}"/>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lvl="0" indent="0">
              <a:buSzPts val="2800"/>
              <a:buNone/>
            </a:pPr>
            <a:r>
              <a:rPr lang="en-GB" sz="2400" noProof="0" dirty="0"/>
              <a:t>2. Which departments have the highest number of employees? </a:t>
            </a:r>
          </a:p>
        </p:txBody>
      </p:sp>
      <p:pic>
        <p:nvPicPr>
          <p:cNvPr id="3" name="Picture 2">
            <a:extLst>
              <a:ext uri="{FF2B5EF4-FFF2-40B4-BE49-F238E27FC236}">
                <a16:creationId xmlns:a16="http://schemas.microsoft.com/office/drawing/2014/main" id="{6E97B0E6-AF26-B0B8-53D2-5B2F4EBE9810}"/>
              </a:ext>
            </a:extLst>
          </p:cNvPr>
          <p:cNvPicPr>
            <a:picLocks noChangeAspect="1"/>
          </p:cNvPicPr>
          <p:nvPr/>
        </p:nvPicPr>
        <p:blipFill>
          <a:blip r:embed="rId3"/>
          <a:stretch>
            <a:fillRect/>
          </a:stretch>
        </p:blipFill>
        <p:spPr>
          <a:xfrm>
            <a:off x="890976" y="2241506"/>
            <a:ext cx="7387715" cy="2120182"/>
          </a:xfrm>
          <a:prstGeom prst="rect">
            <a:avLst/>
          </a:prstGeom>
        </p:spPr>
      </p:pic>
      <p:pic>
        <p:nvPicPr>
          <p:cNvPr id="5" name="Picture 4">
            <a:extLst>
              <a:ext uri="{FF2B5EF4-FFF2-40B4-BE49-F238E27FC236}">
                <a16:creationId xmlns:a16="http://schemas.microsoft.com/office/drawing/2014/main" id="{031532BD-9A9E-51CA-4D93-12F5C3311EE5}"/>
              </a:ext>
            </a:extLst>
          </p:cNvPr>
          <p:cNvPicPr>
            <a:picLocks noChangeAspect="1"/>
          </p:cNvPicPr>
          <p:nvPr/>
        </p:nvPicPr>
        <p:blipFill>
          <a:blip r:embed="rId4"/>
          <a:stretch>
            <a:fillRect/>
          </a:stretch>
        </p:blipFill>
        <p:spPr>
          <a:xfrm>
            <a:off x="8394192" y="3370798"/>
            <a:ext cx="2906832" cy="2628973"/>
          </a:xfrm>
          <a:prstGeom prst="rect">
            <a:avLst/>
          </a:prstGeom>
        </p:spPr>
      </p:pic>
    </p:spTree>
    <p:extLst>
      <p:ext uri="{BB962C8B-B14F-4D97-AF65-F5344CB8AC3E}">
        <p14:creationId xmlns:p14="http://schemas.microsoft.com/office/powerpoint/2010/main" val="133373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73AB281-2FA6-DC76-2BB4-85DAF046F3D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3E10284-A11E-98BC-9B6E-5B485E76DC4C}"/>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E3AEF1B6-E721-2270-F5B7-950F87234D73}"/>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lvl="0" indent="0">
              <a:buSzPts val="2800"/>
              <a:buNone/>
            </a:pPr>
            <a:r>
              <a:rPr lang="en-GB" sz="2400" noProof="0" dirty="0"/>
              <a:t>3. What is the average salary per department?</a:t>
            </a:r>
          </a:p>
        </p:txBody>
      </p:sp>
      <p:pic>
        <p:nvPicPr>
          <p:cNvPr id="3" name="Picture 2">
            <a:extLst>
              <a:ext uri="{FF2B5EF4-FFF2-40B4-BE49-F238E27FC236}">
                <a16:creationId xmlns:a16="http://schemas.microsoft.com/office/drawing/2014/main" id="{B841D5D6-A4AE-B67B-BB61-29767A0BC367}"/>
              </a:ext>
            </a:extLst>
          </p:cNvPr>
          <p:cNvPicPr>
            <a:picLocks noChangeAspect="1"/>
          </p:cNvPicPr>
          <p:nvPr/>
        </p:nvPicPr>
        <p:blipFill>
          <a:blip r:embed="rId3"/>
          <a:stretch>
            <a:fillRect/>
          </a:stretch>
        </p:blipFill>
        <p:spPr>
          <a:xfrm>
            <a:off x="1007091" y="2252270"/>
            <a:ext cx="6460341" cy="2493466"/>
          </a:xfrm>
          <a:prstGeom prst="rect">
            <a:avLst/>
          </a:prstGeom>
        </p:spPr>
      </p:pic>
      <p:pic>
        <p:nvPicPr>
          <p:cNvPr id="5" name="Picture 4">
            <a:extLst>
              <a:ext uri="{FF2B5EF4-FFF2-40B4-BE49-F238E27FC236}">
                <a16:creationId xmlns:a16="http://schemas.microsoft.com/office/drawing/2014/main" id="{1A503B59-D1EB-3E8A-BD7A-06193C024C72}"/>
              </a:ext>
            </a:extLst>
          </p:cNvPr>
          <p:cNvPicPr>
            <a:picLocks noChangeAspect="1"/>
          </p:cNvPicPr>
          <p:nvPr/>
        </p:nvPicPr>
        <p:blipFill>
          <a:blip r:embed="rId4"/>
          <a:stretch>
            <a:fillRect/>
          </a:stretch>
        </p:blipFill>
        <p:spPr>
          <a:xfrm>
            <a:off x="8284465" y="3320414"/>
            <a:ext cx="2900444" cy="2753728"/>
          </a:xfrm>
          <a:prstGeom prst="rect">
            <a:avLst/>
          </a:prstGeom>
        </p:spPr>
      </p:pic>
    </p:spTree>
    <p:extLst>
      <p:ext uri="{BB962C8B-B14F-4D97-AF65-F5344CB8AC3E}">
        <p14:creationId xmlns:p14="http://schemas.microsoft.com/office/powerpoint/2010/main" val="1095690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CEFA93A-10A6-0CE2-2017-4943B2A7C2D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0C01467-8949-A115-9532-B3F25862FA3D}"/>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E0A8F040-903F-CC47-F50A-988BA51DB0C4}"/>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4. Who are the top 5 highest-paid employees? </a:t>
            </a:r>
          </a:p>
          <a:p>
            <a:pPr marL="0" lvl="0" indent="0">
              <a:buSzPts val="2800"/>
              <a:buNone/>
            </a:pPr>
            <a:endParaRPr lang="en-GB" sz="2400" noProof="0" dirty="0"/>
          </a:p>
        </p:txBody>
      </p:sp>
      <p:pic>
        <p:nvPicPr>
          <p:cNvPr id="3" name="Picture 2">
            <a:extLst>
              <a:ext uri="{FF2B5EF4-FFF2-40B4-BE49-F238E27FC236}">
                <a16:creationId xmlns:a16="http://schemas.microsoft.com/office/drawing/2014/main" id="{ED2391A5-57FA-5A37-DAC0-4D244595B46B}"/>
              </a:ext>
            </a:extLst>
          </p:cNvPr>
          <p:cNvPicPr>
            <a:picLocks noChangeAspect="1"/>
          </p:cNvPicPr>
          <p:nvPr/>
        </p:nvPicPr>
        <p:blipFill>
          <a:blip r:embed="rId3"/>
          <a:stretch>
            <a:fillRect/>
          </a:stretch>
        </p:blipFill>
        <p:spPr>
          <a:xfrm>
            <a:off x="769791" y="2159768"/>
            <a:ext cx="6682847" cy="2467096"/>
          </a:xfrm>
          <a:prstGeom prst="rect">
            <a:avLst/>
          </a:prstGeom>
        </p:spPr>
      </p:pic>
      <p:pic>
        <p:nvPicPr>
          <p:cNvPr id="5" name="Picture 4">
            <a:extLst>
              <a:ext uri="{FF2B5EF4-FFF2-40B4-BE49-F238E27FC236}">
                <a16:creationId xmlns:a16="http://schemas.microsoft.com/office/drawing/2014/main" id="{7799B340-B3D5-1F91-2A02-0CAB4E5FEBBA}"/>
              </a:ext>
            </a:extLst>
          </p:cNvPr>
          <p:cNvPicPr>
            <a:picLocks noChangeAspect="1"/>
          </p:cNvPicPr>
          <p:nvPr/>
        </p:nvPicPr>
        <p:blipFill>
          <a:blip r:embed="rId4"/>
          <a:stretch>
            <a:fillRect/>
          </a:stretch>
        </p:blipFill>
        <p:spPr>
          <a:xfrm>
            <a:off x="7318303" y="4233672"/>
            <a:ext cx="3636210" cy="1778365"/>
          </a:xfrm>
          <a:prstGeom prst="rect">
            <a:avLst/>
          </a:prstGeom>
        </p:spPr>
      </p:pic>
    </p:spTree>
    <p:extLst>
      <p:ext uri="{BB962C8B-B14F-4D97-AF65-F5344CB8AC3E}">
        <p14:creationId xmlns:p14="http://schemas.microsoft.com/office/powerpoint/2010/main" val="2507435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D7E9664-ECE9-8730-AF8E-F03225980EE7}"/>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A9E7E11-2005-BE38-1820-01B610559B7B}"/>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D00938F0-9856-5B2A-D32D-8851E235273F}"/>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5. What is the total salary expenditure across the company?</a:t>
            </a:r>
          </a:p>
          <a:p>
            <a:pPr marL="0" lvl="0" indent="0">
              <a:buSzPts val="2800"/>
              <a:buNone/>
            </a:pPr>
            <a:endParaRPr lang="en-GB" sz="2400" noProof="0" dirty="0"/>
          </a:p>
        </p:txBody>
      </p:sp>
      <p:pic>
        <p:nvPicPr>
          <p:cNvPr id="3" name="Picture 2">
            <a:extLst>
              <a:ext uri="{FF2B5EF4-FFF2-40B4-BE49-F238E27FC236}">
                <a16:creationId xmlns:a16="http://schemas.microsoft.com/office/drawing/2014/main" id="{43596109-0211-F818-7DED-9E2B3B5E04D8}"/>
              </a:ext>
            </a:extLst>
          </p:cNvPr>
          <p:cNvPicPr>
            <a:picLocks noChangeAspect="1"/>
          </p:cNvPicPr>
          <p:nvPr/>
        </p:nvPicPr>
        <p:blipFill>
          <a:blip r:embed="rId3"/>
          <a:stretch>
            <a:fillRect/>
          </a:stretch>
        </p:blipFill>
        <p:spPr>
          <a:xfrm>
            <a:off x="573963" y="2534648"/>
            <a:ext cx="8514262" cy="1206068"/>
          </a:xfrm>
          <a:prstGeom prst="rect">
            <a:avLst/>
          </a:prstGeom>
        </p:spPr>
      </p:pic>
      <p:pic>
        <p:nvPicPr>
          <p:cNvPr id="5" name="Picture 4">
            <a:extLst>
              <a:ext uri="{FF2B5EF4-FFF2-40B4-BE49-F238E27FC236}">
                <a16:creationId xmlns:a16="http://schemas.microsoft.com/office/drawing/2014/main" id="{5AA05002-C1A6-9ED9-54D3-0AFBC7484134}"/>
              </a:ext>
            </a:extLst>
          </p:cNvPr>
          <p:cNvPicPr>
            <a:picLocks noChangeAspect="1"/>
          </p:cNvPicPr>
          <p:nvPr/>
        </p:nvPicPr>
        <p:blipFill>
          <a:blip r:embed="rId4"/>
          <a:stretch>
            <a:fillRect/>
          </a:stretch>
        </p:blipFill>
        <p:spPr>
          <a:xfrm>
            <a:off x="7741200" y="4343400"/>
            <a:ext cx="3213312" cy="1414915"/>
          </a:xfrm>
          <a:prstGeom prst="rect">
            <a:avLst/>
          </a:prstGeom>
        </p:spPr>
      </p:pic>
    </p:spTree>
    <p:extLst>
      <p:ext uri="{BB962C8B-B14F-4D97-AF65-F5344CB8AC3E}">
        <p14:creationId xmlns:p14="http://schemas.microsoft.com/office/powerpoint/2010/main" val="375917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602B70F-310F-B855-6B85-D389B611A58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F819D28-6196-2B90-1C49-8FA90B16A087}"/>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CC3BF470-89EA-D2D5-F903-98B349336E7C}"/>
              </a:ext>
            </a:extLst>
          </p:cNvPr>
          <p:cNvSpPr txBox="1">
            <a:spLocks noGrp="1"/>
          </p:cNvSpPr>
          <p:nvPr>
            <p:ph type="body" idx="1"/>
          </p:nvPr>
        </p:nvSpPr>
        <p:spPr>
          <a:xfrm>
            <a:off x="630016" y="1933045"/>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1. How many different job roles exist in each department? </a:t>
            </a:r>
          </a:p>
          <a:p>
            <a:pPr marL="0" indent="0">
              <a:buSzPts val="2800"/>
              <a:buNone/>
            </a:pPr>
            <a:endParaRPr lang="en-GB" sz="2400" noProof="0" dirty="0"/>
          </a:p>
        </p:txBody>
      </p:sp>
      <p:sp>
        <p:nvSpPr>
          <p:cNvPr id="2" name="TextBox 1">
            <a:extLst>
              <a:ext uri="{FF2B5EF4-FFF2-40B4-BE49-F238E27FC236}">
                <a16:creationId xmlns:a16="http://schemas.microsoft.com/office/drawing/2014/main" id="{088796A0-342E-07F3-8DB7-463167586CFB}"/>
              </a:ext>
            </a:extLst>
          </p:cNvPr>
          <p:cNvSpPr txBox="1"/>
          <p:nvPr/>
        </p:nvSpPr>
        <p:spPr>
          <a:xfrm>
            <a:off x="855707" y="1293632"/>
            <a:ext cx="8593093" cy="461665"/>
          </a:xfrm>
          <a:prstGeom prst="rect">
            <a:avLst/>
          </a:prstGeom>
          <a:noFill/>
        </p:spPr>
        <p:txBody>
          <a:bodyPr wrap="square" rtlCol="0">
            <a:spAutoFit/>
          </a:bodyPr>
          <a:lstStyle/>
          <a:p>
            <a:r>
              <a:rPr lang="en-GB" sz="2400" b="1" noProof="0" dirty="0"/>
              <a:t>JOB ROLE AND DEPARTMENT ANALYSIS </a:t>
            </a:r>
          </a:p>
        </p:txBody>
      </p:sp>
      <p:pic>
        <p:nvPicPr>
          <p:cNvPr id="5" name="Picture 4">
            <a:extLst>
              <a:ext uri="{FF2B5EF4-FFF2-40B4-BE49-F238E27FC236}">
                <a16:creationId xmlns:a16="http://schemas.microsoft.com/office/drawing/2014/main" id="{2249FDBD-48B2-02FB-D946-C8261A28CD66}"/>
              </a:ext>
            </a:extLst>
          </p:cNvPr>
          <p:cNvPicPr>
            <a:picLocks noChangeAspect="1"/>
          </p:cNvPicPr>
          <p:nvPr/>
        </p:nvPicPr>
        <p:blipFill>
          <a:blip r:embed="rId3"/>
          <a:stretch>
            <a:fillRect/>
          </a:stretch>
        </p:blipFill>
        <p:spPr>
          <a:xfrm>
            <a:off x="646939" y="2733578"/>
            <a:ext cx="7023463" cy="1792702"/>
          </a:xfrm>
          <a:prstGeom prst="rect">
            <a:avLst/>
          </a:prstGeom>
        </p:spPr>
      </p:pic>
      <p:pic>
        <p:nvPicPr>
          <p:cNvPr id="7" name="Picture 6">
            <a:extLst>
              <a:ext uri="{FF2B5EF4-FFF2-40B4-BE49-F238E27FC236}">
                <a16:creationId xmlns:a16="http://schemas.microsoft.com/office/drawing/2014/main" id="{FDD73AA0-D7E9-7E23-8049-1061A7EF72D8}"/>
              </a:ext>
            </a:extLst>
          </p:cNvPr>
          <p:cNvPicPr>
            <a:picLocks noChangeAspect="1"/>
          </p:cNvPicPr>
          <p:nvPr/>
        </p:nvPicPr>
        <p:blipFill>
          <a:blip r:embed="rId4"/>
          <a:stretch>
            <a:fillRect/>
          </a:stretch>
        </p:blipFill>
        <p:spPr>
          <a:xfrm>
            <a:off x="8110728" y="3289510"/>
            <a:ext cx="2788920" cy="2568326"/>
          </a:xfrm>
          <a:prstGeom prst="rect">
            <a:avLst/>
          </a:prstGeom>
        </p:spPr>
      </p:pic>
    </p:spTree>
    <p:extLst>
      <p:ext uri="{BB962C8B-B14F-4D97-AF65-F5344CB8AC3E}">
        <p14:creationId xmlns:p14="http://schemas.microsoft.com/office/powerpoint/2010/main" val="3835053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6DD3038-854F-4E89-47A2-2C27EE225DA1}"/>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AC84E11-71A6-BC45-A1F5-37043E4CC37D}"/>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8FEF1EEA-E6B5-D8D6-3685-4B9847160764}"/>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2. What is the average salary range per department? </a:t>
            </a:r>
          </a:p>
          <a:p>
            <a:pPr marL="0" indent="0">
              <a:buSzPts val="2800"/>
              <a:buNone/>
            </a:pPr>
            <a:endParaRPr lang="en-GB" sz="2400" noProof="0" dirty="0"/>
          </a:p>
          <a:p>
            <a:pPr marL="0" lvl="0" indent="0">
              <a:buSzPts val="2800"/>
              <a:buNone/>
            </a:pPr>
            <a:endParaRPr lang="en-GB" sz="2400" noProof="0" dirty="0"/>
          </a:p>
        </p:txBody>
      </p:sp>
      <p:pic>
        <p:nvPicPr>
          <p:cNvPr id="4" name="Picture 3">
            <a:extLst>
              <a:ext uri="{FF2B5EF4-FFF2-40B4-BE49-F238E27FC236}">
                <a16:creationId xmlns:a16="http://schemas.microsoft.com/office/drawing/2014/main" id="{090A8835-331D-8E43-4A7C-88E809B1D541}"/>
              </a:ext>
            </a:extLst>
          </p:cNvPr>
          <p:cNvPicPr>
            <a:picLocks noChangeAspect="1"/>
          </p:cNvPicPr>
          <p:nvPr/>
        </p:nvPicPr>
        <p:blipFill>
          <a:blip r:embed="rId3"/>
          <a:stretch>
            <a:fillRect/>
          </a:stretch>
        </p:blipFill>
        <p:spPr>
          <a:xfrm>
            <a:off x="793100" y="2235771"/>
            <a:ext cx="6732411" cy="2576935"/>
          </a:xfrm>
          <a:prstGeom prst="rect">
            <a:avLst/>
          </a:prstGeom>
        </p:spPr>
      </p:pic>
      <p:pic>
        <p:nvPicPr>
          <p:cNvPr id="7" name="Picture 6">
            <a:extLst>
              <a:ext uri="{FF2B5EF4-FFF2-40B4-BE49-F238E27FC236}">
                <a16:creationId xmlns:a16="http://schemas.microsoft.com/office/drawing/2014/main" id="{4766E53B-000D-0061-F6FF-875F720C14B5}"/>
              </a:ext>
            </a:extLst>
          </p:cNvPr>
          <p:cNvPicPr>
            <a:picLocks noChangeAspect="1"/>
          </p:cNvPicPr>
          <p:nvPr/>
        </p:nvPicPr>
        <p:blipFill>
          <a:blip r:embed="rId4"/>
          <a:stretch>
            <a:fillRect/>
          </a:stretch>
        </p:blipFill>
        <p:spPr>
          <a:xfrm>
            <a:off x="8110729" y="3309317"/>
            <a:ext cx="2843784" cy="2753505"/>
          </a:xfrm>
          <a:prstGeom prst="rect">
            <a:avLst/>
          </a:prstGeom>
        </p:spPr>
      </p:pic>
    </p:spTree>
    <p:extLst>
      <p:ext uri="{BB962C8B-B14F-4D97-AF65-F5344CB8AC3E}">
        <p14:creationId xmlns:p14="http://schemas.microsoft.com/office/powerpoint/2010/main" val="1367776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24690A8-E184-4028-74A3-FF9E24C0408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CC377111-1B30-57E4-75FB-B6A5356DF7F9}"/>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8A0EAEDF-1A01-4F7F-7B6E-9A5F0D357077}"/>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3. What </a:t>
            </a:r>
            <a:r>
              <a:rPr lang="en-GB" sz="2400" dirty="0"/>
              <a:t>job roles offer the highest salary</a:t>
            </a:r>
            <a:r>
              <a:rPr lang="en-GB" sz="2400" noProof="0" dirty="0"/>
              <a:t>? </a:t>
            </a:r>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5" name="Picture 4">
            <a:extLst>
              <a:ext uri="{FF2B5EF4-FFF2-40B4-BE49-F238E27FC236}">
                <a16:creationId xmlns:a16="http://schemas.microsoft.com/office/drawing/2014/main" id="{91E3064C-83EC-8490-C594-4FF28BAC3467}"/>
              </a:ext>
            </a:extLst>
          </p:cNvPr>
          <p:cNvPicPr>
            <a:picLocks noChangeAspect="1"/>
          </p:cNvPicPr>
          <p:nvPr/>
        </p:nvPicPr>
        <p:blipFill>
          <a:blip r:embed="rId3"/>
          <a:stretch>
            <a:fillRect/>
          </a:stretch>
        </p:blipFill>
        <p:spPr>
          <a:xfrm>
            <a:off x="813332" y="2084146"/>
            <a:ext cx="6085896" cy="2359837"/>
          </a:xfrm>
          <a:prstGeom prst="rect">
            <a:avLst/>
          </a:prstGeom>
        </p:spPr>
      </p:pic>
      <p:pic>
        <p:nvPicPr>
          <p:cNvPr id="7" name="Picture 6">
            <a:extLst>
              <a:ext uri="{FF2B5EF4-FFF2-40B4-BE49-F238E27FC236}">
                <a16:creationId xmlns:a16="http://schemas.microsoft.com/office/drawing/2014/main" id="{96D48C2F-0303-AE52-818E-89A826191259}"/>
              </a:ext>
            </a:extLst>
          </p:cNvPr>
          <p:cNvPicPr>
            <a:picLocks noChangeAspect="1"/>
          </p:cNvPicPr>
          <p:nvPr/>
        </p:nvPicPr>
        <p:blipFill>
          <a:blip r:embed="rId4"/>
          <a:stretch>
            <a:fillRect/>
          </a:stretch>
        </p:blipFill>
        <p:spPr>
          <a:xfrm>
            <a:off x="7991856" y="1712855"/>
            <a:ext cx="3208624" cy="4254019"/>
          </a:xfrm>
          <a:prstGeom prst="rect">
            <a:avLst/>
          </a:prstGeom>
        </p:spPr>
      </p:pic>
    </p:spTree>
    <p:extLst>
      <p:ext uri="{BB962C8B-B14F-4D97-AF65-F5344CB8AC3E}">
        <p14:creationId xmlns:p14="http://schemas.microsoft.com/office/powerpoint/2010/main" val="2602687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D3578E5-B7C5-4B15-365D-A582743FE0D4}"/>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F4A40EB-8828-5549-07B2-15D7847F1455}"/>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7DBDC2BE-FE2C-F43F-430A-B818C7525BEC}"/>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4. Which departments have the highest total salary allocation?</a:t>
            </a:r>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ED694BE0-99BF-EC50-69D6-C124EEA929B7}"/>
              </a:ext>
            </a:extLst>
          </p:cNvPr>
          <p:cNvPicPr>
            <a:picLocks noChangeAspect="1"/>
          </p:cNvPicPr>
          <p:nvPr/>
        </p:nvPicPr>
        <p:blipFill>
          <a:blip r:embed="rId3"/>
          <a:stretch>
            <a:fillRect/>
          </a:stretch>
        </p:blipFill>
        <p:spPr>
          <a:xfrm>
            <a:off x="684880" y="2131188"/>
            <a:ext cx="6804056" cy="2124855"/>
          </a:xfrm>
          <a:prstGeom prst="rect">
            <a:avLst/>
          </a:prstGeom>
        </p:spPr>
      </p:pic>
      <p:pic>
        <p:nvPicPr>
          <p:cNvPr id="5" name="Picture 4">
            <a:extLst>
              <a:ext uri="{FF2B5EF4-FFF2-40B4-BE49-F238E27FC236}">
                <a16:creationId xmlns:a16="http://schemas.microsoft.com/office/drawing/2014/main" id="{CCD4BF19-4D11-0C7B-A32A-93F88BFE4E7E}"/>
              </a:ext>
            </a:extLst>
          </p:cNvPr>
          <p:cNvPicPr>
            <a:picLocks noChangeAspect="1"/>
          </p:cNvPicPr>
          <p:nvPr/>
        </p:nvPicPr>
        <p:blipFill>
          <a:blip r:embed="rId4"/>
          <a:stretch>
            <a:fillRect/>
          </a:stretch>
        </p:blipFill>
        <p:spPr>
          <a:xfrm>
            <a:off x="7829929" y="3355532"/>
            <a:ext cx="3124584" cy="2476286"/>
          </a:xfrm>
          <a:prstGeom prst="rect">
            <a:avLst/>
          </a:prstGeom>
        </p:spPr>
      </p:pic>
    </p:spTree>
    <p:extLst>
      <p:ext uri="{BB962C8B-B14F-4D97-AF65-F5344CB8AC3E}">
        <p14:creationId xmlns:p14="http://schemas.microsoft.com/office/powerpoint/2010/main" val="2427061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2F4AC94-2B7B-CB06-A2C4-177FA13C0D23}"/>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1390BAE-3BA0-092D-8AC0-78BAB9394B06}"/>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B44D67FD-4C1F-4BD4-9482-F3DE423B1E1F}"/>
              </a:ext>
            </a:extLst>
          </p:cNvPr>
          <p:cNvSpPr txBox="1">
            <a:spLocks noGrp="1"/>
          </p:cNvSpPr>
          <p:nvPr>
            <p:ph type="body" idx="1"/>
          </p:nvPr>
        </p:nvSpPr>
        <p:spPr>
          <a:xfrm>
            <a:off x="630016" y="1933045"/>
            <a:ext cx="10269632" cy="686150"/>
          </a:xfrm>
          <a:prstGeom prst="rect">
            <a:avLst/>
          </a:prstGeom>
          <a:noFill/>
          <a:ln>
            <a:noFill/>
          </a:ln>
        </p:spPr>
        <p:txBody>
          <a:bodyPr spcFirstLastPara="1" wrap="square" lIns="91425" tIns="45700" rIns="91425" bIns="45700" anchor="t" anchorCtr="0">
            <a:normAutofit/>
          </a:bodyPr>
          <a:lstStyle/>
          <a:p>
            <a:pPr marL="114300" lvl="0" indent="0" fontAlgn="base">
              <a:buNone/>
            </a:pPr>
            <a:r>
              <a:rPr lang="en-GB" sz="2400" noProof="0" dirty="0"/>
              <a:t>1. </a:t>
            </a:r>
            <a:r>
              <a:rPr lang="en-GB" noProof="0" dirty="0"/>
              <a:t>How many employees have at least one qualification listed? </a:t>
            </a:r>
          </a:p>
          <a:p>
            <a:pPr marL="0" indent="0">
              <a:buSzPts val="2800"/>
              <a:buNone/>
            </a:pPr>
            <a:endParaRPr lang="en-GB" sz="2400" noProof="0" dirty="0"/>
          </a:p>
        </p:txBody>
      </p:sp>
      <p:sp>
        <p:nvSpPr>
          <p:cNvPr id="2" name="TextBox 1">
            <a:extLst>
              <a:ext uri="{FF2B5EF4-FFF2-40B4-BE49-F238E27FC236}">
                <a16:creationId xmlns:a16="http://schemas.microsoft.com/office/drawing/2014/main" id="{C5EDE431-D966-694A-73F5-C8EAF75B43A3}"/>
              </a:ext>
            </a:extLst>
          </p:cNvPr>
          <p:cNvSpPr txBox="1"/>
          <p:nvPr/>
        </p:nvSpPr>
        <p:spPr>
          <a:xfrm>
            <a:off x="855707" y="1293632"/>
            <a:ext cx="8593093" cy="461665"/>
          </a:xfrm>
          <a:prstGeom prst="rect">
            <a:avLst/>
          </a:prstGeom>
          <a:noFill/>
        </p:spPr>
        <p:txBody>
          <a:bodyPr wrap="square" rtlCol="0">
            <a:spAutoFit/>
          </a:bodyPr>
          <a:lstStyle/>
          <a:p>
            <a:r>
              <a:rPr lang="en-GB" sz="2400" b="1" noProof="0" dirty="0"/>
              <a:t>QUALIFICATION AND SKILLS ANALYSIS </a:t>
            </a:r>
          </a:p>
        </p:txBody>
      </p:sp>
      <p:pic>
        <p:nvPicPr>
          <p:cNvPr id="4" name="Picture 3">
            <a:extLst>
              <a:ext uri="{FF2B5EF4-FFF2-40B4-BE49-F238E27FC236}">
                <a16:creationId xmlns:a16="http://schemas.microsoft.com/office/drawing/2014/main" id="{9F2215DC-4EE8-EC09-A6C9-8FF1B69129F9}"/>
              </a:ext>
            </a:extLst>
          </p:cNvPr>
          <p:cNvPicPr>
            <a:picLocks noChangeAspect="1"/>
          </p:cNvPicPr>
          <p:nvPr/>
        </p:nvPicPr>
        <p:blipFill>
          <a:blip r:embed="rId3"/>
          <a:stretch>
            <a:fillRect/>
          </a:stretch>
        </p:blipFill>
        <p:spPr>
          <a:xfrm>
            <a:off x="855706" y="2796942"/>
            <a:ext cx="8252115" cy="1528169"/>
          </a:xfrm>
          <a:prstGeom prst="rect">
            <a:avLst/>
          </a:prstGeom>
        </p:spPr>
      </p:pic>
      <p:pic>
        <p:nvPicPr>
          <p:cNvPr id="8" name="Picture 7">
            <a:extLst>
              <a:ext uri="{FF2B5EF4-FFF2-40B4-BE49-F238E27FC236}">
                <a16:creationId xmlns:a16="http://schemas.microsoft.com/office/drawing/2014/main" id="{F0A63E13-819B-0F8F-A9BA-4372CBFFD67D}"/>
              </a:ext>
            </a:extLst>
          </p:cNvPr>
          <p:cNvPicPr>
            <a:picLocks noChangeAspect="1"/>
          </p:cNvPicPr>
          <p:nvPr/>
        </p:nvPicPr>
        <p:blipFill>
          <a:blip r:embed="rId4"/>
          <a:stretch>
            <a:fillRect/>
          </a:stretch>
        </p:blipFill>
        <p:spPr>
          <a:xfrm>
            <a:off x="7977745" y="4407409"/>
            <a:ext cx="2921903" cy="1351926"/>
          </a:xfrm>
          <a:prstGeom prst="rect">
            <a:avLst/>
          </a:prstGeom>
        </p:spPr>
      </p:pic>
    </p:spTree>
    <p:extLst>
      <p:ext uri="{BB962C8B-B14F-4D97-AF65-F5344CB8AC3E}">
        <p14:creationId xmlns:p14="http://schemas.microsoft.com/office/powerpoint/2010/main" val="3839341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44E2EB8-3507-BF85-49A4-E948346781F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499266D-D013-8A24-AC5C-CB9017855C02}"/>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AFE80ADA-A28B-F7B6-4452-8B001A0CE213}"/>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2. Which positions require the most qualifications? </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4" name="Picture 3">
            <a:extLst>
              <a:ext uri="{FF2B5EF4-FFF2-40B4-BE49-F238E27FC236}">
                <a16:creationId xmlns:a16="http://schemas.microsoft.com/office/drawing/2014/main" id="{75A2B5B2-C4E5-A329-C8CD-5B7A2F5FFD93}"/>
              </a:ext>
            </a:extLst>
          </p:cNvPr>
          <p:cNvPicPr>
            <a:picLocks noChangeAspect="1"/>
          </p:cNvPicPr>
          <p:nvPr/>
        </p:nvPicPr>
        <p:blipFill>
          <a:blip r:embed="rId3"/>
          <a:stretch>
            <a:fillRect/>
          </a:stretch>
        </p:blipFill>
        <p:spPr>
          <a:xfrm>
            <a:off x="684880" y="2178629"/>
            <a:ext cx="6690987" cy="1936171"/>
          </a:xfrm>
          <a:prstGeom prst="rect">
            <a:avLst/>
          </a:prstGeom>
        </p:spPr>
      </p:pic>
      <p:pic>
        <p:nvPicPr>
          <p:cNvPr id="7" name="Picture 6">
            <a:extLst>
              <a:ext uri="{FF2B5EF4-FFF2-40B4-BE49-F238E27FC236}">
                <a16:creationId xmlns:a16="http://schemas.microsoft.com/office/drawing/2014/main" id="{B08815D4-0CC8-AA9D-0587-CB0D96EE69E0}"/>
              </a:ext>
            </a:extLst>
          </p:cNvPr>
          <p:cNvPicPr>
            <a:picLocks noChangeAspect="1"/>
          </p:cNvPicPr>
          <p:nvPr/>
        </p:nvPicPr>
        <p:blipFill>
          <a:blip r:embed="rId4"/>
          <a:stretch>
            <a:fillRect/>
          </a:stretch>
        </p:blipFill>
        <p:spPr>
          <a:xfrm>
            <a:off x="7772718" y="2178629"/>
            <a:ext cx="3181794" cy="3743847"/>
          </a:xfrm>
          <a:prstGeom prst="rect">
            <a:avLst/>
          </a:prstGeom>
        </p:spPr>
      </p:pic>
    </p:spTree>
    <p:extLst>
      <p:ext uri="{BB962C8B-B14F-4D97-AF65-F5344CB8AC3E}">
        <p14:creationId xmlns:p14="http://schemas.microsoft.com/office/powerpoint/2010/main" val="349161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36372FD-435C-B627-A6A9-E9892E62354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51C38044-6BCF-E0A9-A944-F96353ADA16A}"/>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CEF3D05E-48ED-0FF8-3A66-376B3ADE6211}"/>
              </a:ext>
            </a:extLst>
          </p:cNvPr>
          <p:cNvSpPr txBox="1">
            <a:spLocks noGrp="1"/>
          </p:cNvSpPr>
          <p:nvPr>
            <p:ph type="body" idx="1"/>
          </p:nvPr>
        </p:nvSpPr>
        <p:spPr>
          <a:xfrm>
            <a:off x="684880" y="1343818"/>
            <a:ext cx="10269632" cy="686150"/>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3. Which employees have the highest number of qualifications? </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23B2237B-2EE6-EDD4-0B9A-62EC7AE75B5D}"/>
              </a:ext>
            </a:extLst>
          </p:cNvPr>
          <p:cNvPicPr>
            <a:picLocks noChangeAspect="1"/>
          </p:cNvPicPr>
          <p:nvPr/>
        </p:nvPicPr>
        <p:blipFill>
          <a:blip r:embed="rId3"/>
          <a:stretch>
            <a:fillRect/>
          </a:stretch>
        </p:blipFill>
        <p:spPr>
          <a:xfrm>
            <a:off x="684880" y="2141097"/>
            <a:ext cx="6515668" cy="2028567"/>
          </a:xfrm>
          <a:prstGeom prst="rect">
            <a:avLst/>
          </a:prstGeom>
        </p:spPr>
      </p:pic>
      <p:pic>
        <p:nvPicPr>
          <p:cNvPr id="5" name="Picture 4">
            <a:extLst>
              <a:ext uri="{FF2B5EF4-FFF2-40B4-BE49-F238E27FC236}">
                <a16:creationId xmlns:a16="http://schemas.microsoft.com/office/drawing/2014/main" id="{B304086F-F8F5-187B-EE95-88D7AF5C2D61}"/>
              </a:ext>
            </a:extLst>
          </p:cNvPr>
          <p:cNvPicPr>
            <a:picLocks noChangeAspect="1"/>
          </p:cNvPicPr>
          <p:nvPr/>
        </p:nvPicPr>
        <p:blipFill>
          <a:blip r:embed="rId4"/>
          <a:stretch>
            <a:fillRect/>
          </a:stretch>
        </p:blipFill>
        <p:spPr>
          <a:xfrm>
            <a:off x="7301096" y="1956816"/>
            <a:ext cx="3924848" cy="4020111"/>
          </a:xfrm>
          <a:prstGeom prst="rect">
            <a:avLst/>
          </a:prstGeom>
        </p:spPr>
      </p:pic>
    </p:spTree>
    <p:extLst>
      <p:ext uri="{BB962C8B-B14F-4D97-AF65-F5344CB8AC3E}">
        <p14:creationId xmlns:p14="http://schemas.microsoft.com/office/powerpoint/2010/main" val="2963498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238FBFF-194A-E429-066A-D1C39F69EE8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D44B728-8C91-E59F-1477-80D0188A9D26}"/>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3B72BF49-44DF-767A-A6A2-9C059956A259}"/>
              </a:ext>
            </a:extLst>
          </p:cNvPr>
          <p:cNvSpPr txBox="1">
            <a:spLocks noGrp="1"/>
          </p:cNvSpPr>
          <p:nvPr>
            <p:ph type="body" idx="1"/>
          </p:nvPr>
        </p:nvSpPr>
        <p:spPr>
          <a:xfrm>
            <a:off x="630016" y="1933045"/>
            <a:ext cx="10269632" cy="686150"/>
          </a:xfrm>
          <a:prstGeom prst="rect">
            <a:avLst/>
          </a:prstGeom>
          <a:noFill/>
          <a:ln>
            <a:noFill/>
          </a:ln>
        </p:spPr>
        <p:txBody>
          <a:bodyPr spcFirstLastPara="1" wrap="square" lIns="91425" tIns="45700" rIns="91425" bIns="45700" anchor="t" anchorCtr="0">
            <a:normAutofit/>
          </a:bodyPr>
          <a:lstStyle/>
          <a:p>
            <a:pPr marL="114300" lvl="0" indent="0" fontAlgn="base">
              <a:buNone/>
            </a:pPr>
            <a:r>
              <a:rPr lang="en-GB" sz="2400" noProof="0" dirty="0"/>
              <a:t>1. Which year had the most employees taking leaves?</a:t>
            </a:r>
          </a:p>
          <a:p>
            <a:pPr marL="0" indent="0">
              <a:buSzPts val="2800"/>
              <a:buNone/>
            </a:pPr>
            <a:endParaRPr lang="en-GB" sz="2400" noProof="0" dirty="0"/>
          </a:p>
        </p:txBody>
      </p:sp>
      <p:sp>
        <p:nvSpPr>
          <p:cNvPr id="2" name="TextBox 1">
            <a:extLst>
              <a:ext uri="{FF2B5EF4-FFF2-40B4-BE49-F238E27FC236}">
                <a16:creationId xmlns:a16="http://schemas.microsoft.com/office/drawing/2014/main" id="{9F9229C6-F434-00A4-BCC0-44A587B8FB3F}"/>
              </a:ext>
            </a:extLst>
          </p:cNvPr>
          <p:cNvSpPr txBox="1"/>
          <p:nvPr/>
        </p:nvSpPr>
        <p:spPr>
          <a:xfrm>
            <a:off x="855707" y="1293632"/>
            <a:ext cx="8593093" cy="461665"/>
          </a:xfrm>
          <a:prstGeom prst="rect">
            <a:avLst/>
          </a:prstGeom>
          <a:noFill/>
        </p:spPr>
        <p:txBody>
          <a:bodyPr wrap="square" rtlCol="0">
            <a:spAutoFit/>
          </a:bodyPr>
          <a:lstStyle/>
          <a:p>
            <a:r>
              <a:rPr lang="en-GB" sz="2400" b="1" noProof="0" dirty="0"/>
              <a:t>LEAVE AND ABSENCE PATTERNS</a:t>
            </a:r>
            <a:r>
              <a:rPr lang="en-GB" b="1" noProof="0" dirty="0"/>
              <a:t> </a:t>
            </a:r>
          </a:p>
        </p:txBody>
      </p:sp>
      <p:pic>
        <p:nvPicPr>
          <p:cNvPr id="5" name="Picture 4">
            <a:extLst>
              <a:ext uri="{FF2B5EF4-FFF2-40B4-BE49-F238E27FC236}">
                <a16:creationId xmlns:a16="http://schemas.microsoft.com/office/drawing/2014/main" id="{5002C0D0-C564-7416-6453-EBF601491C5E}"/>
              </a:ext>
            </a:extLst>
          </p:cNvPr>
          <p:cNvPicPr>
            <a:picLocks noChangeAspect="1"/>
          </p:cNvPicPr>
          <p:nvPr/>
        </p:nvPicPr>
        <p:blipFill>
          <a:blip r:embed="rId3"/>
          <a:stretch>
            <a:fillRect/>
          </a:stretch>
        </p:blipFill>
        <p:spPr>
          <a:xfrm>
            <a:off x="723150" y="2619194"/>
            <a:ext cx="6884658" cy="2075163"/>
          </a:xfrm>
          <a:prstGeom prst="rect">
            <a:avLst/>
          </a:prstGeom>
        </p:spPr>
      </p:pic>
      <p:pic>
        <p:nvPicPr>
          <p:cNvPr id="7" name="Picture 6">
            <a:extLst>
              <a:ext uri="{FF2B5EF4-FFF2-40B4-BE49-F238E27FC236}">
                <a16:creationId xmlns:a16="http://schemas.microsoft.com/office/drawing/2014/main" id="{0FC0BA66-308F-32BD-FF32-0FC79BA9C034}"/>
              </a:ext>
            </a:extLst>
          </p:cNvPr>
          <p:cNvPicPr>
            <a:picLocks noChangeAspect="1"/>
          </p:cNvPicPr>
          <p:nvPr/>
        </p:nvPicPr>
        <p:blipFill>
          <a:blip r:embed="rId4"/>
          <a:stretch>
            <a:fillRect/>
          </a:stretch>
        </p:blipFill>
        <p:spPr>
          <a:xfrm>
            <a:off x="7649921" y="4694357"/>
            <a:ext cx="3249727" cy="1127456"/>
          </a:xfrm>
          <a:prstGeom prst="rect">
            <a:avLst/>
          </a:prstGeom>
        </p:spPr>
      </p:pic>
    </p:spTree>
    <p:extLst>
      <p:ext uri="{BB962C8B-B14F-4D97-AF65-F5344CB8AC3E}">
        <p14:creationId xmlns:p14="http://schemas.microsoft.com/office/powerpoint/2010/main" val="2071236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607B685E-24B1-7BE9-F3C5-24B2B37FA931}"/>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E4C8C65-D977-281D-822F-61811F3CFA96}"/>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DD522B38-B8FF-4370-CDF7-7DAF85E102B3}"/>
              </a:ext>
            </a:extLst>
          </p:cNvPr>
          <p:cNvSpPr txBox="1">
            <a:spLocks noGrp="1"/>
          </p:cNvSpPr>
          <p:nvPr>
            <p:ph type="body" idx="1"/>
          </p:nvPr>
        </p:nvSpPr>
        <p:spPr>
          <a:xfrm>
            <a:off x="684879" y="1343818"/>
            <a:ext cx="10384173" cy="103041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2. What is the average number of leave days taken by its employees per department?</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4" name="Picture 3">
            <a:extLst>
              <a:ext uri="{FF2B5EF4-FFF2-40B4-BE49-F238E27FC236}">
                <a16:creationId xmlns:a16="http://schemas.microsoft.com/office/drawing/2014/main" id="{9B37A2AC-E40E-BB47-C77C-90A95B20BE44}"/>
              </a:ext>
            </a:extLst>
          </p:cNvPr>
          <p:cNvPicPr>
            <a:picLocks noChangeAspect="1"/>
          </p:cNvPicPr>
          <p:nvPr/>
        </p:nvPicPr>
        <p:blipFill>
          <a:blip r:embed="rId3"/>
          <a:stretch>
            <a:fillRect/>
          </a:stretch>
        </p:blipFill>
        <p:spPr>
          <a:xfrm>
            <a:off x="684879" y="2528219"/>
            <a:ext cx="8212233" cy="2787638"/>
          </a:xfrm>
          <a:prstGeom prst="rect">
            <a:avLst/>
          </a:prstGeom>
        </p:spPr>
      </p:pic>
      <p:pic>
        <p:nvPicPr>
          <p:cNvPr id="7" name="Picture 6">
            <a:extLst>
              <a:ext uri="{FF2B5EF4-FFF2-40B4-BE49-F238E27FC236}">
                <a16:creationId xmlns:a16="http://schemas.microsoft.com/office/drawing/2014/main" id="{812C4451-E6FB-4555-A05F-C27C81A552C9}"/>
              </a:ext>
            </a:extLst>
          </p:cNvPr>
          <p:cNvPicPr>
            <a:picLocks noChangeAspect="1"/>
          </p:cNvPicPr>
          <p:nvPr/>
        </p:nvPicPr>
        <p:blipFill>
          <a:blip r:embed="rId4"/>
          <a:stretch>
            <a:fillRect/>
          </a:stretch>
        </p:blipFill>
        <p:spPr>
          <a:xfrm>
            <a:off x="8476488" y="3477181"/>
            <a:ext cx="2592564" cy="2508933"/>
          </a:xfrm>
          <a:prstGeom prst="rect">
            <a:avLst/>
          </a:prstGeom>
        </p:spPr>
      </p:pic>
    </p:spTree>
    <p:extLst>
      <p:ext uri="{BB962C8B-B14F-4D97-AF65-F5344CB8AC3E}">
        <p14:creationId xmlns:p14="http://schemas.microsoft.com/office/powerpoint/2010/main" val="4142971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18F8AAA-128E-4E34-B682-7CCAB4EA5760}"/>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53C33798-610E-2571-4916-99644C41EC96}"/>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E9D013A8-C6BE-70DA-56D6-E86FA39CD3A7}"/>
              </a:ext>
            </a:extLst>
          </p:cNvPr>
          <p:cNvSpPr txBox="1">
            <a:spLocks noGrp="1"/>
          </p:cNvSpPr>
          <p:nvPr>
            <p:ph type="body" idx="1"/>
          </p:nvPr>
        </p:nvSpPr>
        <p:spPr>
          <a:xfrm>
            <a:off x="684879" y="1343818"/>
            <a:ext cx="10384173" cy="103041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3. Which employees have taken the most leaves?</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23CDF514-A463-5A1E-38C9-81697FE31078}"/>
              </a:ext>
            </a:extLst>
          </p:cNvPr>
          <p:cNvPicPr>
            <a:picLocks noChangeAspect="1"/>
          </p:cNvPicPr>
          <p:nvPr/>
        </p:nvPicPr>
        <p:blipFill>
          <a:blip r:embed="rId3"/>
          <a:stretch>
            <a:fillRect/>
          </a:stretch>
        </p:blipFill>
        <p:spPr>
          <a:xfrm>
            <a:off x="660906" y="2014404"/>
            <a:ext cx="7738571" cy="2393004"/>
          </a:xfrm>
          <a:prstGeom prst="rect">
            <a:avLst/>
          </a:prstGeom>
        </p:spPr>
      </p:pic>
      <p:pic>
        <p:nvPicPr>
          <p:cNvPr id="5" name="Picture 4">
            <a:extLst>
              <a:ext uri="{FF2B5EF4-FFF2-40B4-BE49-F238E27FC236}">
                <a16:creationId xmlns:a16="http://schemas.microsoft.com/office/drawing/2014/main" id="{D520EED3-84D9-5BE7-149A-327595A73EF9}"/>
              </a:ext>
            </a:extLst>
          </p:cNvPr>
          <p:cNvPicPr>
            <a:picLocks noChangeAspect="1"/>
          </p:cNvPicPr>
          <p:nvPr/>
        </p:nvPicPr>
        <p:blipFill>
          <a:blip r:embed="rId4"/>
          <a:stretch>
            <a:fillRect/>
          </a:stretch>
        </p:blipFill>
        <p:spPr>
          <a:xfrm>
            <a:off x="8399477" y="2222199"/>
            <a:ext cx="3391373" cy="3591426"/>
          </a:xfrm>
          <a:prstGeom prst="rect">
            <a:avLst/>
          </a:prstGeom>
        </p:spPr>
      </p:pic>
    </p:spTree>
    <p:extLst>
      <p:ext uri="{BB962C8B-B14F-4D97-AF65-F5344CB8AC3E}">
        <p14:creationId xmlns:p14="http://schemas.microsoft.com/office/powerpoint/2010/main" val="3062858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5E675B2-E912-4AA6-0F97-C8E13DA60A3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19B1EC8-EC43-B2C3-31CE-8703604068CA}"/>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F0A9C288-0AEB-0EBD-C50F-9EF40525F9EB}"/>
              </a:ext>
            </a:extLst>
          </p:cNvPr>
          <p:cNvSpPr txBox="1">
            <a:spLocks noGrp="1"/>
          </p:cNvSpPr>
          <p:nvPr>
            <p:ph type="body" idx="1"/>
          </p:nvPr>
        </p:nvSpPr>
        <p:spPr>
          <a:xfrm>
            <a:off x="684879" y="1343818"/>
            <a:ext cx="10384173" cy="80582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4. What is the total number of leave days taken company-wide?</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149442BD-2484-E4DB-1158-79BA1712438C}"/>
              </a:ext>
            </a:extLst>
          </p:cNvPr>
          <p:cNvPicPr>
            <a:picLocks noChangeAspect="1"/>
          </p:cNvPicPr>
          <p:nvPr/>
        </p:nvPicPr>
        <p:blipFill>
          <a:blip r:embed="rId3"/>
          <a:stretch>
            <a:fillRect/>
          </a:stretch>
        </p:blipFill>
        <p:spPr>
          <a:xfrm>
            <a:off x="765987" y="2220367"/>
            <a:ext cx="8028039" cy="1353801"/>
          </a:xfrm>
          <a:prstGeom prst="rect">
            <a:avLst/>
          </a:prstGeom>
        </p:spPr>
      </p:pic>
      <p:pic>
        <p:nvPicPr>
          <p:cNvPr id="5" name="Picture 4">
            <a:extLst>
              <a:ext uri="{FF2B5EF4-FFF2-40B4-BE49-F238E27FC236}">
                <a16:creationId xmlns:a16="http://schemas.microsoft.com/office/drawing/2014/main" id="{BD15A10A-8793-A4D3-1C60-5BBB00D5487B}"/>
              </a:ext>
            </a:extLst>
          </p:cNvPr>
          <p:cNvPicPr>
            <a:picLocks noChangeAspect="1"/>
          </p:cNvPicPr>
          <p:nvPr/>
        </p:nvPicPr>
        <p:blipFill>
          <a:blip r:embed="rId4"/>
          <a:stretch>
            <a:fillRect/>
          </a:stretch>
        </p:blipFill>
        <p:spPr>
          <a:xfrm>
            <a:off x="8795795" y="4416552"/>
            <a:ext cx="2273258" cy="1202712"/>
          </a:xfrm>
          <a:prstGeom prst="rect">
            <a:avLst/>
          </a:prstGeom>
        </p:spPr>
      </p:pic>
    </p:spTree>
    <p:extLst>
      <p:ext uri="{BB962C8B-B14F-4D97-AF65-F5344CB8AC3E}">
        <p14:creationId xmlns:p14="http://schemas.microsoft.com/office/powerpoint/2010/main" val="2683098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EA52C5F-6D45-CD28-B646-266D6DB1244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62DA4E9-A29A-FC91-8341-19C98F6DE732}"/>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B2B4CE3A-4A69-3454-609B-01FA895D9F26}"/>
              </a:ext>
            </a:extLst>
          </p:cNvPr>
          <p:cNvSpPr txBox="1">
            <a:spLocks noGrp="1"/>
          </p:cNvSpPr>
          <p:nvPr>
            <p:ph type="body" idx="1"/>
          </p:nvPr>
        </p:nvSpPr>
        <p:spPr>
          <a:xfrm>
            <a:off x="684879" y="1343818"/>
            <a:ext cx="10384173" cy="80582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5. How do leave days correlate with payroll amounts?</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C5263C32-2750-AFDC-0A81-ABBDF933266E}"/>
              </a:ext>
            </a:extLst>
          </p:cNvPr>
          <p:cNvPicPr>
            <a:picLocks noChangeAspect="1"/>
          </p:cNvPicPr>
          <p:nvPr/>
        </p:nvPicPr>
        <p:blipFill>
          <a:blip r:embed="rId3"/>
          <a:stretch>
            <a:fillRect/>
          </a:stretch>
        </p:blipFill>
        <p:spPr>
          <a:xfrm>
            <a:off x="809094" y="2103755"/>
            <a:ext cx="6734705" cy="2569995"/>
          </a:xfrm>
          <a:prstGeom prst="rect">
            <a:avLst/>
          </a:prstGeom>
        </p:spPr>
      </p:pic>
      <p:pic>
        <p:nvPicPr>
          <p:cNvPr id="5" name="Picture 4">
            <a:extLst>
              <a:ext uri="{FF2B5EF4-FFF2-40B4-BE49-F238E27FC236}">
                <a16:creationId xmlns:a16="http://schemas.microsoft.com/office/drawing/2014/main" id="{0BF9732B-B761-ECED-2B9D-D3FE4FB96805}"/>
              </a:ext>
            </a:extLst>
          </p:cNvPr>
          <p:cNvPicPr>
            <a:picLocks noChangeAspect="1"/>
          </p:cNvPicPr>
          <p:nvPr/>
        </p:nvPicPr>
        <p:blipFill>
          <a:blip r:embed="rId4"/>
          <a:stretch>
            <a:fillRect/>
          </a:stretch>
        </p:blipFill>
        <p:spPr>
          <a:xfrm>
            <a:off x="8833104" y="2451228"/>
            <a:ext cx="2549801" cy="3410426"/>
          </a:xfrm>
          <a:prstGeom prst="rect">
            <a:avLst/>
          </a:prstGeom>
        </p:spPr>
      </p:pic>
    </p:spTree>
    <p:extLst>
      <p:ext uri="{BB962C8B-B14F-4D97-AF65-F5344CB8AC3E}">
        <p14:creationId xmlns:p14="http://schemas.microsoft.com/office/powerpoint/2010/main" val="3195886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6598ECE-9632-A554-A3D8-DBF7125A3F3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4C90AA2-4E72-D161-562C-7FA8DB2DDEC3}"/>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90211B27-DCA2-C2BD-03F1-13548CC0B5CC}"/>
              </a:ext>
            </a:extLst>
          </p:cNvPr>
          <p:cNvSpPr txBox="1">
            <a:spLocks noGrp="1"/>
          </p:cNvSpPr>
          <p:nvPr>
            <p:ph type="body" idx="1"/>
          </p:nvPr>
        </p:nvSpPr>
        <p:spPr>
          <a:xfrm>
            <a:off x="630016" y="1933045"/>
            <a:ext cx="10269632" cy="686150"/>
          </a:xfrm>
          <a:prstGeom prst="rect">
            <a:avLst/>
          </a:prstGeom>
          <a:noFill/>
          <a:ln>
            <a:noFill/>
          </a:ln>
        </p:spPr>
        <p:txBody>
          <a:bodyPr spcFirstLastPara="1" wrap="square" lIns="91425" tIns="45700" rIns="91425" bIns="45700" anchor="t" anchorCtr="0">
            <a:normAutofit/>
          </a:bodyPr>
          <a:lstStyle/>
          <a:p>
            <a:pPr marL="114300" lvl="0" indent="0" fontAlgn="base">
              <a:buNone/>
            </a:pPr>
            <a:r>
              <a:rPr lang="en-GB" sz="2400" noProof="0" dirty="0"/>
              <a:t>1. What is the total monthly payroll processed?</a:t>
            </a:r>
          </a:p>
        </p:txBody>
      </p:sp>
      <p:sp>
        <p:nvSpPr>
          <p:cNvPr id="2" name="TextBox 1">
            <a:extLst>
              <a:ext uri="{FF2B5EF4-FFF2-40B4-BE49-F238E27FC236}">
                <a16:creationId xmlns:a16="http://schemas.microsoft.com/office/drawing/2014/main" id="{B3691E9A-550A-0ADB-7BF2-3B0672DB83A6}"/>
              </a:ext>
            </a:extLst>
          </p:cNvPr>
          <p:cNvSpPr txBox="1"/>
          <p:nvPr/>
        </p:nvSpPr>
        <p:spPr>
          <a:xfrm>
            <a:off x="809987" y="1330654"/>
            <a:ext cx="8593093" cy="461665"/>
          </a:xfrm>
          <a:prstGeom prst="rect">
            <a:avLst/>
          </a:prstGeom>
          <a:noFill/>
        </p:spPr>
        <p:txBody>
          <a:bodyPr wrap="square" rtlCol="0">
            <a:spAutoFit/>
          </a:bodyPr>
          <a:lstStyle/>
          <a:p>
            <a:r>
              <a:rPr lang="en-GB" sz="2400" b="1" noProof="0" dirty="0"/>
              <a:t>PAYROLL AND COMPENSATION ANALYSIS</a:t>
            </a:r>
          </a:p>
        </p:txBody>
      </p:sp>
      <p:pic>
        <p:nvPicPr>
          <p:cNvPr id="4" name="Picture 3">
            <a:extLst>
              <a:ext uri="{FF2B5EF4-FFF2-40B4-BE49-F238E27FC236}">
                <a16:creationId xmlns:a16="http://schemas.microsoft.com/office/drawing/2014/main" id="{34864E94-E3B4-967D-D751-C7540973F833}"/>
              </a:ext>
            </a:extLst>
          </p:cNvPr>
          <p:cNvPicPr>
            <a:picLocks noChangeAspect="1"/>
          </p:cNvPicPr>
          <p:nvPr/>
        </p:nvPicPr>
        <p:blipFill>
          <a:blip r:embed="rId3"/>
          <a:stretch>
            <a:fillRect/>
          </a:stretch>
        </p:blipFill>
        <p:spPr>
          <a:xfrm>
            <a:off x="809987" y="2656216"/>
            <a:ext cx="7557482" cy="1678039"/>
          </a:xfrm>
          <a:prstGeom prst="rect">
            <a:avLst/>
          </a:prstGeom>
        </p:spPr>
      </p:pic>
      <p:pic>
        <p:nvPicPr>
          <p:cNvPr id="8" name="Picture 7">
            <a:extLst>
              <a:ext uri="{FF2B5EF4-FFF2-40B4-BE49-F238E27FC236}">
                <a16:creationId xmlns:a16="http://schemas.microsoft.com/office/drawing/2014/main" id="{0157E312-70D8-5DA8-32ED-3868D1AF719D}"/>
              </a:ext>
            </a:extLst>
          </p:cNvPr>
          <p:cNvPicPr>
            <a:picLocks noChangeAspect="1"/>
          </p:cNvPicPr>
          <p:nvPr/>
        </p:nvPicPr>
        <p:blipFill>
          <a:blip r:embed="rId4"/>
          <a:stretch>
            <a:fillRect/>
          </a:stretch>
        </p:blipFill>
        <p:spPr>
          <a:xfrm>
            <a:off x="7949915" y="4700016"/>
            <a:ext cx="2949733" cy="1113800"/>
          </a:xfrm>
          <a:prstGeom prst="rect">
            <a:avLst/>
          </a:prstGeom>
        </p:spPr>
      </p:pic>
    </p:spTree>
    <p:extLst>
      <p:ext uri="{BB962C8B-B14F-4D97-AF65-F5344CB8AC3E}">
        <p14:creationId xmlns:p14="http://schemas.microsoft.com/office/powerpoint/2010/main" val="3845409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DF4D7D3-6A8B-44F8-534E-B9F773FCF1A3}"/>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7BA57F8-0C70-E4E2-9E9E-F7D9D568062C}"/>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6EB2D3A8-BB81-4994-7E9A-25C980B157E6}"/>
              </a:ext>
            </a:extLst>
          </p:cNvPr>
          <p:cNvSpPr txBox="1">
            <a:spLocks noGrp="1"/>
          </p:cNvSpPr>
          <p:nvPr>
            <p:ph type="body" idx="1"/>
          </p:nvPr>
        </p:nvSpPr>
        <p:spPr>
          <a:xfrm>
            <a:off x="684879" y="1343818"/>
            <a:ext cx="10384173" cy="80582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2. What is the average bonus given per department? </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4" name="Picture 3">
            <a:extLst>
              <a:ext uri="{FF2B5EF4-FFF2-40B4-BE49-F238E27FC236}">
                <a16:creationId xmlns:a16="http://schemas.microsoft.com/office/drawing/2014/main" id="{3FA34DA4-C109-CD5D-4111-558D172554B5}"/>
              </a:ext>
            </a:extLst>
          </p:cNvPr>
          <p:cNvPicPr>
            <a:picLocks noChangeAspect="1"/>
          </p:cNvPicPr>
          <p:nvPr/>
        </p:nvPicPr>
        <p:blipFill>
          <a:blip r:embed="rId3"/>
          <a:stretch>
            <a:fillRect/>
          </a:stretch>
        </p:blipFill>
        <p:spPr>
          <a:xfrm>
            <a:off x="684878" y="2149641"/>
            <a:ext cx="6584601" cy="2369409"/>
          </a:xfrm>
          <a:prstGeom prst="rect">
            <a:avLst/>
          </a:prstGeom>
        </p:spPr>
      </p:pic>
      <p:pic>
        <p:nvPicPr>
          <p:cNvPr id="7" name="Picture 6">
            <a:extLst>
              <a:ext uri="{FF2B5EF4-FFF2-40B4-BE49-F238E27FC236}">
                <a16:creationId xmlns:a16="http://schemas.microsoft.com/office/drawing/2014/main" id="{76A315B0-BF09-B36B-6FF4-3D62A3BD921E}"/>
              </a:ext>
            </a:extLst>
          </p:cNvPr>
          <p:cNvPicPr>
            <a:picLocks noChangeAspect="1"/>
          </p:cNvPicPr>
          <p:nvPr/>
        </p:nvPicPr>
        <p:blipFill>
          <a:blip r:embed="rId4"/>
          <a:stretch>
            <a:fillRect/>
          </a:stretch>
        </p:blipFill>
        <p:spPr>
          <a:xfrm>
            <a:off x="8302752" y="3243820"/>
            <a:ext cx="2766300" cy="2602936"/>
          </a:xfrm>
          <a:prstGeom prst="rect">
            <a:avLst/>
          </a:prstGeom>
        </p:spPr>
      </p:pic>
    </p:spTree>
    <p:extLst>
      <p:ext uri="{BB962C8B-B14F-4D97-AF65-F5344CB8AC3E}">
        <p14:creationId xmlns:p14="http://schemas.microsoft.com/office/powerpoint/2010/main" val="3688326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6F4E4EE-C78D-FF37-C51B-457049EC1A07}"/>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3FEAB8B-BDB2-B6ED-B13D-6BF118257BC1}"/>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2A76B21C-8CAC-4D3F-842E-59DDA6279D9B}"/>
              </a:ext>
            </a:extLst>
          </p:cNvPr>
          <p:cNvSpPr txBox="1">
            <a:spLocks noGrp="1"/>
          </p:cNvSpPr>
          <p:nvPr>
            <p:ph type="body" idx="1"/>
          </p:nvPr>
        </p:nvSpPr>
        <p:spPr>
          <a:xfrm>
            <a:off x="684879" y="1343818"/>
            <a:ext cx="10384173" cy="805824"/>
          </a:xfrm>
          <a:prstGeom prst="rect">
            <a:avLst/>
          </a:prstGeom>
          <a:noFill/>
          <a:ln>
            <a:noFill/>
          </a:ln>
        </p:spPr>
        <p:txBody>
          <a:bodyPr spcFirstLastPara="1" wrap="square" lIns="91425" tIns="45700" rIns="91425" bIns="45700" anchor="t" anchorCtr="0">
            <a:normAutofit/>
          </a:bodyPr>
          <a:lstStyle/>
          <a:p>
            <a:pPr marL="0" indent="0">
              <a:buSzPts val="2800"/>
              <a:buNone/>
            </a:pPr>
            <a:r>
              <a:rPr lang="en-GB" sz="2400" noProof="0" dirty="0"/>
              <a:t>3. Which department receives the highest total bonuses? </a:t>
            </a:r>
          </a:p>
          <a:p>
            <a:pPr marL="0" indent="0">
              <a:buSzPts val="2800"/>
              <a:buNone/>
            </a:pPr>
            <a:endParaRPr lang="en-GB" sz="2400" noProof="0" dirty="0"/>
          </a:p>
          <a:p>
            <a:pPr marL="0" indent="0">
              <a:buSzPts val="2800"/>
              <a:buNone/>
            </a:pPr>
            <a:endParaRPr lang="en-GB" sz="2400" noProof="0" dirty="0"/>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FA8BBD83-F16B-FCC5-088F-8E59E0665A20}"/>
              </a:ext>
            </a:extLst>
          </p:cNvPr>
          <p:cNvPicPr>
            <a:picLocks noChangeAspect="1"/>
          </p:cNvPicPr>
          <p:nvPr/>
        </p:nvPicPr>
        <p:blipFill>
          <a:blip r:embed="rId3"/>
          <a:stretch>
            <a:fillRect/>
          </a:stretch>
        </p:blipFill>
        <p:spPr>
          <a:xfrm>
            <a:off x="684878" y="2192918"/>
            <a:ext cx="6895497" cy="2659133"/>
          </a:xfrm>
          <a:prstGeom prst="rect">
            <a:avLst/>
          </a:prstGeom>
        </p:spPr>
      </p:pic>
      <p:pic>
        <p:nvPicPr>
          <p:cNvPr id="5" name="Picture 4">
            <a:extLst>
              <a:ext uri="{FF2B5EF4-FFF2-40B4-BE49-F238E27FC236}">
                <a16:creationId xmlns:a16="http://schemas.microsoft.com/office/drawing/2014/main" id="{0B3AB189-D654-4283-610E-A2D0DBF0D741}"/>
              </a:ext>
            </a:extLst>
          </p:cNvPr>
          <p:cNvPicPr>
            <a:picLocks noChangeAspect="1"/>
          </p:cNvPicPr>
          <p:nvPr/>
        </p:nvPicPr>
        <p:blipFill>
          <a:blip r:embed="rId4"/>
          <a:stretch>
            <a:fillRect/>
          </a:stretch>
        </p:blipFill>
        <p:spPr>
          <a:xfrm>
            <a:off x="7901345" y="4708359"/>
            <a:ext cx="3167707" cy="1220219"/>
          </a:xfrm>
          <a:prstGeom prst="rect">
            <a:avLst/>
          </a:prstGeom>
        </p:spPr>
      </p:pic>
    </p:spTree>
    <p:extLst>
      <p:ext uri="{BB962C8B-B14F-4D97-AF65-F5344CB8AC3E}">
        <p14:creationId xmlns:p14="http://schemas.microsoft.com/office/powerpoint/2010/main" val="1622780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6F88D48-1A41-D5B8-11CE-455EFB5828E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E08FE48-13D9-9B59-E3E1-584E735625A7}"/>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SQL Query Results with  Screenshots</a:t>
            </a:r>
          </a:p>
        </p:txBody>
      </p:sp>
      <p:sp>
        <p:nvSpPr>
          <p:cNvPr id="111" name="Google Shape;111;p4">
            <a:extLst>
              <a:ext uri="{FF2B5EF4-FFF2-40B4-BE49-F238E27FC236}">
                <a16:creationId xmlns:a16="http://schemas.microsoft.com/office/drawing/2014/main" id="{B7367D77-41B6-1B19-B602-6CDAA6660912}"/>
              </a:ext>
            </a:extLst>
          </p:cNvPr>
          <p:cNvSpPr txBox="1">
            <a:spLocks noGrp="1"/>
          </p:cNvSpPr>
          <p:nvPr>
            <p:ph type="body" idx="1"/>
          </p:nvPr>
        </p:nvSpPr>
        <p:spPr>
          <a:xfrm>
            <a:off x="684879" y="1343818"/>
            <a:ext cx="10384173" cy="805824"/>
          </a:xfrm>
          <a:prstGeom prst="rect">
            <a:avLst/>
          </a:prstGeom>
          <a:noFill/>
          <a:ln>
            <a:noFill/>
          </a:ln>
        </p:spPr>
        <p:txBody>
          <a:bodyPr spcFirstLastPara="1" wrap="square" lIns="91425" tIns="45700" rIns="91425" bIns="45700" anchor="t" anchorCtr="0">
            <a:normAutofit fontScale="92500"/>
          </a:bodyPr>
          <a:lstStyle/>
          <a:p>
            <a:pPr marL="0" indent="0">
              <a:buSzPts val="2800"/>
              <a:buNone/>
            </a:pPr>
            <a:r>
              <a:rPr lang="en-GB" sz="2400" noProof="0" dirty="0"/>
              <a:t>4. </a:t>
            </a:r>
            <a:r>
              <a:rPr lang="en-GB" sz="2600" noProof="0" dirty="0"/>
              <a:t>What is the average value of total_amount after considering leave deductions?</a:t>
            </a:r>
          </a:p>
          <a:p>
            <a:pPr marL="0" indent="0">
              <a:buSzPts val="2800"/>
              <a:buNone/>
            </a:pPr>
            <a:endParaRPr lang="en-GB" sz="2400" noProof="0" dirty="0"/>
          </a:p>
          <a:p>
            <a:pPr marL="0" lvl="0" indent="0">
              <a:buSzPts val="2800"/>
              <a:buNone/>
            </a:pPr>
            <a:endParaRPr lang="en-GB" sz="2400" noProof="0" dirty="0"/>
          </a:p>
        </p:txBody>
      </p:sp>
      <p:pic>
        <p:nvPicPr>
          <p:cNvPr id="3" name="Picture 2">
            <a:extLst>
              <a:ext uri="{FF2B5EF4-FFF2-40B4-BE49-F238E27FC236}">
                <a16:creationId xmlns:a16="http://schemas.microsoft.com/office/drawing/2014/main" id="{192EE345-DAE4-5DED-F3C9-FAA2AC45F1B9}"/>
              </a:ext>
            </a:extLst>
          </p:cNvPr>
          <p:cNvPicPr>
            <a:picLocks noChangeAspect="1"/>
          </p:cNvPicPr>
          <p:nvPr/>
        </p:nvPicPr>
        <p:blipFill>
          <a:blip r:embed="rId3"/>
          <a:stretch>
            <a:fillRect/>
          </a:stretch>
        </p:blipFill>
        <p:spPr>
          <a:xfrm>
            <a:off x="684879" y="2364392"/>
            <a:ext cx="10381297" cy="1265776"/>
          </a:xfrm>
          <a:prstGeom prst="rect">
            <a:avLst/>
          </a:prstGeom>
        </p:spPr>
      </p:pic>
      <p:pic>
        <p:nvPicPr>
          <p:cNvPr id="5" name="Picture 4">
            <a:extLst>
              <a:ext uri="{FF2B5EF4-FFF2-40B4-BE49-F238E27FC236}">
                <a16:creationId xmlns:a16="http://schemas.microsoft.com/office/drawing/2014/main" id="{030D8485-C4B9-3D49-92FC-887F9E101BED}"/>
              </a:ext>
            </a:extLst>
          </p:cNvPr>
          <p:cNvPicPr>
            <a:picLocks noChangeAspect="1"/>
          </p:cNvPicPr>
          <p:nvPr/>
        </p:nvPicPr>
        <p:blipFill>
          <a:blip r:embed="rId4"/>
          <a:stretch>
            <a:fillRect/>
          </a:stretch>
        </p:blipFill>
        <p:spPr>
          <a:xfrm>
            <a:off x="8829557" y="4352545"/>
            <a:ext cx="2357357" cy="1370214"/>
          </a:xfrm>
          <a:prstGeom prst="rect">
            <a:avLst/>
          </a:prstGeom>
        </p:spPr>
      </p:pic>
    </p:spTree>
    <p:extLst>
      <p:ext uri="{BB962C8B-B14F-4D97-AF65-F5344CB8AC3E}">
        <p14:creationId xmlns:p14="http://schemas.microsoft.com/office/powerpoint/2010/main" val="2362346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51CC9E7-9C53-B531-7226-37E8B0C149A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535B2DF-0F41-3A65-641E-BC98732F5649}"/>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Final Business Insights</a:t>
            </a:r>
          </a:p>
        </p:txBody>
      </p:sp>
      <p:sp>
        <p:nvSpPr>
          <p:cNvPr id="111" name="Google Shape;111;p4">
            <a:extLst>
              <a:ext uri="{FF2B5EF4-FFF2-40B4-BE49-F238E27FC236}">
                <a16:creationId xmlns:a16="http://schemas.microsoft.com/office/drawing/2014/main" id="{2549D5C4-48D0-8CA8-7E5C-FABF865243EA}"/>
              </a:ext>
            </a:extLst>
          </p:cNvPr>
          <p:cNvSpPr txBox="1">
            <a:spLocks noGrp="1"/>
          </p:cNvSpPr>
          <p:nvPr>
            <p:ph type="body" idx="1"/>
          </p:nvPr>
        </p:nvSpPr>
        <p:spPr>
          <a:xfrm>
            <a:off x="460291" y="1040382"/>
            <a:ext cx="10515600" cy="4991449"/>
          </a:xfrm>
          <a:prstGeom prst="rect">
            <a:avLst/>
          </a:prstGeom>
          <a:noFill/>
          <a:ln>
            <a:noFill/>
          </a:ln>
        </p:spPr>
        <p:txBody>
          <a:bodyPr spcFirstLastPara="1" wrap="square" lIns="91425" tIns="45700" rIns="91425" bIns="45700" anchor="t" anchorCtr="0">
            <a:normAutofit/>
          </a:bodyPr>
          <a:lstStyle/>
          <a:p>
            <a:pPr indent="-457200">
              <a:buSzPts val="2800"/>
            </a:pPr>
            <a:r>
              <a:rPr lang="en-GB" sz="2200" b="1" noProof="0" dirty="0"/>
              <a:t>Workforce distribution is uneven across departments</a:t>
            </a:r>
            <a:r>
              <a:rPr lang="en-GB" sz="2200" noProof="0" dirty="0"/>
              <a:t>, indicating potential overstaffing in some areas and capacity gaps in others, which can be optimized for better resource utilization.</a:t>
            </a:r>
          </a:p>
          <a:p>
            <a:pPr indent="-457200">
              <a:buSzPts val="2800"/>
            </a:pPr>
            <a:r>
              <a:rPr lang="en-GB" sz="2200" b="1" noProof="0" dirty="0"/>
              <a:t>Salary allocation varies significantly by department and job role</a:t>
            </a:r>
            <a:r>
              <a:rPr lang="en-GB" sz="2200" noProof="0" dirty="0"/>
              <a:t>, confirming that compensation is strongly driven by role complexity and departmental function.</a:t>
            </a:r>
          </a:p>
          <a:p>
            <a:pPr indent="-457200">
              <a:buSzPts val="2800"/>
            </a:pPr>
            <a:r>
              <a:rPr lang="en-GB" sz="2200" b="1" noProof="0" dirty="0"/>
              <a:t>Actual payroll expenditure differs from planned salary structures</a:t>
            </a:r>
            <a:r>
              <a:rPr lang="en-GB" sz="2200" noProof="0" dirty="0"/>
              <a:t>, highlighting the impact of bonuses, leave deductions, and attendance on real financial outflow.</a:t>
            </a:r>
          </a:p>
          <a:p>
            <a:pPr indent="-457200">
              <a:buSzPts val="2800"/>
            </a:pPr>
            <a:r>
              <a:rPr lang="en-GB" sz="2200" b="1" noProof="0" dirty="0"/>
              <a:t>Employees with higher qualification levels are concentrated in specific roles</a:t>
            </a:r>
            <a:r>
              <a:rPr lang="en-GB" sz="2200" noProof="0" dirty="0"/>
              <a:t>, suggesting that skill-intensive positions demand continuous training and certification investment.</a:t>
            </a:r>
          </a:p>
          <a:p>
            <a:pPr indent="-457200">
              <a:buSzPts val="2800"/>
            </a:pPr>
            <a:r>
              <a:rPr lang="en-GB" sz="2400" b="1" noProof="0" dirty="0"/>
              <a:t>Payroll data provides a more accurate picture of company expenditure than salary definitions alone</a:t>
            </a:r>
            <a:r>
              <a:rPr lang="en-GB" sz="2400" noProof="0" dirty="0"/>
              <a:t>, reinforcing the importance of transaction-level data for financial planning.</a:t>
            </a:r>
          </a:p>
          <a:p>
            <a:pPr indent="-457200">
              <a:buSzPts val="2800"/>
            </a:pPr>
            <a:endParaRPr lang="en-GB" sz="2200" noProof="0" dirty="0"/>
          </a:p>
        </p:txBody>
      </p:sp>
    </p:spTree>
    <p:extLst>
      <p:ext uri="{BB962C8B-B14F-4D97-AF65-F5344CB8AC3E}">
        <p14:creationId xmlns:p14="http://schemas.microsoft.com/office/powerpoint/2010/main" val="2520418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67EA17B-3159-051C-4E7B-BBF90708405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FFA8FD4-E2A8-A684-632F-556FAA48C35D}"/>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Recommendations</a:t>
            </a:r>
          </a:p>
        </p:txBody>
      </p:sp>
      <p:sp>
        <p:nvSpPr>
          <p:cNvPr id="111" name="Google Shape;111;p4">
            <a:extLst>
              <a:ext uri="{FF2B5EF4-FFF2-40B4-BE49-F238E27FC236}">
                <a16:creationId xmlns:a16="http://schemas.microsoft.com/office/drawing/2014/main" id="{1CA1A74F-C3CC-FCA5-38F3-F09E940B8C1F}"/>
              </a:ext>
            </a:extLst>
          </p:cNvPr>
          <p:cNvSpPr txBox="1">
            <a:spLocks noGrp="1"/>
          </p:cNvSpPr>
          <p:nvPr>
            <p:ph type="body" idx="1"/>
          </p:nvPr>
        </p:nvSpPr>
        <p:spPr>
          <a:xfrm>
            <a:off x="684880" y="1493134"/>
            <a:ext cx="10515600" cy="4763287"/>
          </a:xfrm>
          <a:prstGeom prst="rect">
            <a:avLst/>
          </a:prstGeom>
          <a:noFill/>
          <a:ln>
            <a:noFill/>
          </a:ln>
        </p:spPr>
        <p:txBody>
          <a:bodyPr spcFirstLastPara="1" wrap="square" lIns="91425" tIns="45700" rIns="91425" bIns="45700" anchor="t" anchorCtr="0">
            <a:normAutofit/>
          </a:bodyPr>
          <a:lstStyle/>
          <a:p>
            <a:pPr indent="-457200">
              <a:buSzPts val="2800"/>
            </a:pPr>
            <a:r>
              <a:rPr lang="en-GB" noProof="0" dirty="0"/>
              <a:t>Invest in skill development for high-demand roles</a:t>
            </a:r>
          </a:p>
          <a:p>
            <a:pPr indent="-457200">
              <a:buSzPts val="2800"/>
            </a:pPr>
            <a:r>
              <a:rPr lang="en-GB" noProof="0" dirty="0"/>
              <a:t>Control bonus distribution through performance linkage</a:t>
            </a:r>
          </a:p>
          <a:p>
            <a:pPr indent="-457200">
              <a:buSzPts val="2800"/>
            </a:pPr>
            <a:r>
              <a:rPr lang="en-GB" noProof="0" dirty="0"/>
              <a:t>Align salary structures with actual payroll outcomes</a:t>
            </a:r>
          </a:p>
          <a:p>
            <a:pPr indent="-457200">
              <a:buSzPts val="2800"/>
            </a:pPr>
            <a:r>
              <a:rPr lang="en-GB" noProof="0" dirty="0"/>
              <a:t>Optimize workforce allocation across departments</a:t>
            </a:r>
          </a:p>
          <a:p>
            <a:pPr indent="-457200">
              <a:buSzPts val="2800"/>
            </a:pPr>
            <a:r>
              <a:rPr lang="en-GB" noProof="0" dirty="0"/>
              <a:t>Monitor high leave frequency employees proactively</a:t>
            </a:r>
          </a:p>
        </p:txBody>
      </p:sp>
    </p:spTree>
    <p:extLst>
      <p:ext uri="{BB962C8B-B14F-4D97-AF65-F5344CB8AC3E}">
        <p14:creationId xmlns:p14="http://schemas.microsoft.com/office/powerpoint/2010/main" val="1959946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8F316F8-8A0F-E2B8-B5D8-891058939E1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440CCF0C-7F29-EAA3-D8C1-D8A449C32E02}"/>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Challenges</a:t>
            </a:r>
          </a:p>
        </p:txBody>
      </p:sp>
      <p:sp>
        <p:nvSpPr>
          <p:cNvPr id="111" name="Google Shape;111;p4">
            <a:extLst>
              <a:ext uri="{FF2B5EF4-FFF2-40B4-BE49-F238E27FC236}">
                <a16:creationId xmlns:a16="http://schemas.microsoft.com/office/drawing/2014/main" id="{5B6A17D4-C28F-B930-1483-1133BC89E354}"/>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indent="-457200">
              <a:buSzPts val="2800"/>
            </a:pPr>
            <a:r>
              <a:rPr lang="en-GB" noProof="0" dirty="0"/>
              <a:t>Handling cascading updates and deletions safely</a:t>
            </a:r>
          </a:p>
          <a:p>
            <a:pPr indent="-457200">
              <a:buSzPts val="2800"/>
            </a:pPr>
            <a:r>
              <a:rPr lang="en-GB" noProof="0" dirty="0"/>
              <a:t>Loading and validating CSV data with constraints</a:t>
            </a:r>
          </a:p>
          <a:p>
            <a:pPr indent="-457200">
              <a:buSzPts val="2800"/>
            </a:pPr>
            <a:r>
              <a:rPr lang="en-GB" noProof="0" dirty="0"/>
              <a:t>Ensuring consistent date formats for time-based analysis</a:t>
            </a:r>
          </a:p>
          <a:p>
            <a:pPr indent="-457200">
              <a:buSzPts val="2800"/>
            </a:pPr>
            <a:r>
              <a:rPr lang="en-GB" noProof="0" dirty="0"/>
              <a:t>Differentiating between planned salary and actual payroll data</a:t>
            </a:r>
          </a:p>
          <a:p>
            <a:pPr indent="-457200">
              <a:buSzPts val="2800"/>
            </a:pPr>
            <a:r>
              <a:rPr lang="en-GB" noProof="0" dirty="0"/>
              <a:t>Maintaining data integrity across multiple related tables</a:t>
            </a:r>
          </a:p>
        </p:txBody>
      </p:sp>
    </p:spTree>
    <p:extLst>
      <p:ext uri="{BB962C8B-B14F-4D97-AF65-F5344CB8AC3E}">
        <p14:creationId xmlns:p14="http://schemas.microsoft.com/office/powerpoint/2010/main" val="3228007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BCA8C62-602A-85F9-6071-CD78E11A45C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4931BC9-0592-9DEE-5B18-4E7C7C0BFC65}"/>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b="1" noProof="0" dirty="0">
                <a:solidFill>
                  <a:srgbClr val="FF0000"/>
                </a:solidFill>
              </a:rPr>
              <a:t>Conclusion</a:t>
            </a:r>
          </a:p>
        </p:txBody>
      </p:sp>
      <p:sp>
        <p:nvSpPr>
          <p:cNvPr id="111" name="Google Shape;111;p4">
            <a:extLst>
              <a:ext uri="{FF2B5EF4-FFF2-40B4-BE49-F238E27FC236}">
                <a16:creationId xmlns:a16="http://schemas.microsoft.com/office/drawing/2014/main" id="{9FEF925E-AB1A-1A34-AD05-623163A0F87B}"/>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r>
              <a:rPr lang="en-GB" noProof="0" dirty="0"/>
              <a:t>A structured relational database successfully integrated employee, job, leave, and payroll data with strong data integrity.</a:t>
            </a:r>
          </a:p>
          <a:p>
            <a:pPr marL="114300" indent="0">
              <a:buNone/>
            </a:pPr>
            <a:endParaRPr lang="en-GB" noProof="0" dirty="0"/>
          </a:p>
          <a:p>
            <a:r>
              <a:rPr lang="en-GB" noProof="0" dirty="0"/>
              <a:t>SQL analysis provided clear insights into workforce distribution, compensation, attendance, and actual payroll expenditure.</a:t>
            </a:r>
          </a:p>
          <a:p>
            <a:pPr marL="114300" indent="0">
              <a:buNone/>
            </a:pPr>
            <a:endParaRPr lang="en-GB" noProof="0" dirty="0"/>
          </a:p>
          <a:p>
            <a:r>
              <a:rPr lang="en-GB" noProof="0" dirty="0"/>
              <a:t>The system enables data-driven HR and financial decision-making for better cost control and workforce management.</a:t>
            </a:r>
          </a:p>
          <a:p>
            <a:pPr indent="-457200">
              <a:buSzPts val="2800"/>
            </a:pPr>
            <a:endParaRPr lang="en-GB" noProof="0" dirty="0"/>
          </a:p>
        </p:txBody>
      </p:sp>
    </p:spTree>
    <p:extLst>
      <p:ext uri="{BB962C8B-B14F-4D97-AF65-F5344CB8AC3E}">
        <p14:creationId xmlns:p14="http://schemas.microsoft.com/office/powerpoint/2010/main" val="2711598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GB" sz="4400" b="0" i="0" u="none" strike="noStrike" cap="none" noProof="0" dirty="0">
                <a:solidFill>
                  <a:srgbClr val="C00000"/>
                </a:solidFill>
                <a:latin typeface="Libre Baskerville"/>
                <a:ea typeface="Libre Baskerville"/>
                <a:cs typeface="Libre Baskerville"/>
                <a:sym typeface="Libre Baskerville"/>
              </a:rPr>
              <a:t>THANK YOU</a:t>
            </a:r>
            <a:endParaRPr lang="en-GB" sz="18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1061</Words>
  <Application>Microsoft Office PowerPoint</Application>
  <PresentationFormat>Widescreen</PresentationFormat>
  <Paragraphs>157</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Libre Baskerville</vt:lpstr>
      <vt:lpstr>Calibri</vt:lpstr>
      <vt:lpstr>Arial</vt:lpstr>
      <vt:lpstr>Office Theme</vt:lpstr>
      <vt:lpstr>PowerPoint Presentation</vt:lpstr>
      <vt:lpstr>Agenda</vt:lpstr>
      <vt:lpstr>Objective</vt:lpstr>
      <vt:lpstr>ER Diagram and Schema Explanation</vt:lpstr>
      <vt:lpstr>Tables</vt:lpstr>
      <vt:lpstr>Tables</vt:lpstr>
      <vt:lpstr>Tables</vt:lpstr>
      <vt:lpstr>Key Analysis Questions</vt:lpstr>
      <vt:lpstr>Key Analysis Questions</vt:lpstr>
      <vt:lpstr>Key Analysis Questions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SQL Query Results with  Screenshots</vt:lpstr>
      <vt:lpstr>Final Business Insights</vt:lpstr>
      <vt:lpstr>Recommendations</vt:lpstr>
      <vt:lpstr>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Vamshi krishna Mummadi</cp:lastModifiedBy>
  <cp:revision>3</cp:revision>
  <dcterms:created xsi:type="dcterms:W3CDTF">2021-02-16T05:19:01Z</dcterms:created>
  <dcterms:modified xsi:type="dcterms:W3CDTF">2026-01-07T11:56:48Z</dcterms:modified>
</cp:coreProperties>
</file>